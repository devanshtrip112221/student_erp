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61" r:id="rId2"/>
    <p:sldId id="256" r:id="rId3"/>
    <p:sldId id="257" r:id="rId4"/>
    <p:sldId id="258" r:id="rId5"/>
    <p:sldId id="259" r:id="rId6"/>
    <p:sldId id="260" r:id="rId7"/>
    <p:sldId id="262" r:id="rId8"/>
  </p:sldIdLst>
  <p:sldSz cx="14630400" cy="8229600"/>
  <p:notesSz cx="8229600" cy="14630400"/>
  <p:embeddedFontLst>
    <p:embeddedFont>
      <p:font typeface="Raleway" panose="020F0502020204030204" pitchFamily="2" charset="0"/>
      <p:regular r:id="rId10"/>
      <p:bold r:id="rId11"/>
    </p:embeddedFont>
    <p:embeddedFont>
      <p:font typeface="Roboto" panose="020F0502020204030204" pitchFamily="2" charset="0"/>
      <p:regular r:id="rId12"/>
      <p:bold r:id="rId13"/>
    </p:embeddedFont>
  </p:embeddedFontLst>
  <p:custShowLst>
    <p:custShow name="Custom Show 1" id="0">
      <p:sldLst>
        <p:sld r:id="rId2"/>
        <p:sld r:id="rId3"/>
        <p:sld r:id="rId4"/>
        <p:sld r:id="rId5"/>
        <p:sld r:id="rId6"/>
        <p:sld r:id="rId7"/>
        <p:sld r:id="rId8"/>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261F60B-64A5-45F9-8E82-7697E2FBADF5}" v="1" dt="2026-04-23T10:48:23.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0957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CECF3"/>
          </a:solidFill>
          <a:ln/>
        </p:spPr>
      </p:sp>
      <p:sp>
        <p:nvSpPr>
          <p:cNvPr id="3" name="Shape 1"/>
          <p:cNvSpPr/>
          <p:nvPr/>
        </p:nvSpPr>
        <p:spPr>
          <a:xfrm>
            <a:off x="0" y="0"/>
            <a:ext cx="14630400" cy="8229600"/>
          </a:xfrm>
          <a:prstGeom prst="rect">
            <a:avLst/>
          </a:prstGeom>
          <a:solidFill>
            <a:srgbClr val="FFFFFF">
              <a:alpha val="95000"/>
            </a:srgbClr>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0FA9DEC-CD14-250F-2B46-F623A1CBA394}"/>
              </a:ext>
            </a:extLst>
          </p:cNvPr>
          <p:cNvPicPr>
            <a:picLocks noChangeAspect="1"/>
          </p:cNvPicPr>
          <p:nvPr/>
        </p:nvPicPr>
        <p:blipFill>
          <a:blip r:embed="rId2"/>
          <a:stretch>
            <a:fillRect/>
          </a:stretch>
        </p:blipFill>
        <p:spPr>
          <a:xfrm>
            <a:off x="152911" y="1016129"/>
            <a:ext cx="5993245" cy="5993245"/>
          </a:xfrm>
          <a:prstGeom prst="rect">
            <a:avLst/>
          </a:prstGeom>
        </p:spPr>
      </p:pic>
      <p:sp>
        <p:nvSpPr>
          <p:cNvPr id="8" name="TextBox 7">
            <a:extLst>
              <a:ext uri="{FF2B5EF4-FFF2-40B4-BE49-F238E27FC236}">
                <a16:creationId xmlns:a16="http://schemas.microsoft.com/office/drawing/2014/main" id="{68799812-F591-932E-C8F7-F99EA5F9CB53}"/>
              </a:ext>
            </a:extLst>
          </p:cNvPr>
          <p:cNvSpPr txBox="1"/>
          <p:nvPr/>
        </p:nvSpPr>
        <p:spPr>
          <a:xfrm>
            <a:off x="5764191" y="2227212"/>
            <a:ext cx="9641713" cy="646331"/>
          </a:xfrm>
          <a:prstGeom prst="rect">
            <a:avLst/>
          </a:prstGeom>
          <a:noFill/>
        </p:spPr>
        <p:txBody>
          <a:bodyPr wrap="square" rtlCol="0">
            <a:spAutoFit/>
          </a:bodyPr>
          <a:lstStyle/>
          <a:p>
            <a:r>
              <a:rPr lang="en-IN" sz="3600" b="1" dirty="0"/>
              <a:t>SCHOOL OF ENGINEERING AND RESEARCH</a:t>
            </a:r>
          </a:p>
        </p:txBody>
      </p:sp>
      <p:sp>
        <p:nvSpPr>
          <p:cNvPr id="10" name="TextBox 9">
            <a:extLst>
              <a:ext uri="{FF2B5EF4-FFF2-40B4-BE49-F238E27FC236}">
                <a16:creationId xmlns:a16="http://schemas.microsoft.com/office/drawing/2014/main" id="{88B1F808-8EC2-83CB-B5D7-544AAA036D4D}"/>
              </a:ext>
            </a:extLst>
          </p:cNvPr>
          <p:cNvSpPr txBox="1"/>
          <p:nvPr/>
        </p:nvSpPr>
        <p:spPr>
          <a:xfrm>
            <a:off x="6944810" y="2885118"/>
            <a:ext cx="5845215" cy="1077218"/>
          </a:xfrm>
          <a:prstGeom prst="rect">
            <a:avLst/>
          </a:prstGeom>
          <a:noFill/>
        </p:spPr>
        <p:txBody>
          <a:bodyPr wrap="square" rtlCol="0">
            <a:spAutoFit/>
          </a:bodyPr>
          <a:lstStyle/>
          <a:p>
            <a:r>
              <a:rPr lang="en-IN" sz="3200" b="1" dirty="0"/>
              <a:t>         ENGLISH PRESENTATION: </a:t>
            </a:r>
          </a:p>
          <a:p>
            <a:r>
              <a:rPr lang="en-IN" sz="3200" b="1" dirty="0"/>
              <a:t>     ONLINE GAMING ADDICTION</a:t>
            </a:r>
          </a:p>
        </p:txBody>
      </p:sp>
      <p:sp>
        <p:nvSpPr>
          <p:cNvPr id="11" name="TextBox 10">
            <a:extLst>
              <a:ext uri="{FF2B5EF4-FFF2-40B4-BE49-F238E27FC236}">
                <a16:creationId xmlns:a16="http://schemas.microsoft.com/office/drawing/2014/main" id="{5C0DC10F-EEBC-2BF6-3384-E5D9E39785A6}"/>
              </a:ext>
            </a:extLst>
          </p:cNvPr>
          <p:cNvSpPr txBox="1"/>
          <p:nvPr/>
        </p:nvSpPr>
        <p:spPr>
          <a:xfrm>
            <a:off x="6366076" y="4826643"/>
            <a:ext cx="7361499" cy="1384995"/>
          </a:xfrm>
          <a:prstGeom prst="rect">
            <a:avLst/>
          </a:prstGeom>
          <a:noFill/>
        </p:spPr>
        <p:txBody>
          <a:bodyPr wrap="square" rtlCol="0">
            <a:spAutoFit/>
          </a:bodyPr>
          <a:lstStyle/>
          <a:p>
            <a:r>
              <a:rPr lang="en-IN" sz="2800" dirty="0"/>
              <a:t>NAME – SOUMAYE BARNWAL </a:t>
            </a:r>
          </a:p>
          <a:p>
            <a:r>
              <a:rPr lang="en-IN" sz="2800" dirty="0"/>
              <a:t>BCA (CTIS) 4</a:t>
            </a:r>
            <a:r>
              <a:rPr lang="en-IN" sz="2800" baseline="30000" dirty="0"/>
              <a:t>TH</a:t>
            </a:r>
            <a:r>
              <a:rPr lang="en-IN" sz="2800" dirty="0"/>
              <a:t> SEM</a:t>
            </a:r>
          </a:p>
          <a:p>
            <a:r>
              <a:rPr lang="en-IN" sz="2800" dirty="0"/>
              <a:t>130410424042</a:t>
            </a:r>
          </a:p>
        </p:txBody>
      </p:sp>
      <p:sp>
        <p:nvSpPr>
          <p:cNvPr id="12" name="TextBox 11">
            <a:extLst>
              <a:ext uri="{FF2B5EF4-FFF2-40B4-BE49-F238E27FC236}">
                <a16:creationId xmlns:a16="http://schemas.microsoft.com/office/drawing/2014/main" id="{655E38FC-AA9A-C9A2-3975-7CFE5FF9552D}"/>
              </a:ext>
            </a:extLst>
          </p:cNvPr>
          <p:cNvSpPr txBox="1"/>
          <p:nvPr/>
        </p:nvSpPr>
        <p:spPr>
          <a:xfrm>
            <a:off x="8611565" y="7009374"/>
            <a:ext cx="4606724" cy="954107"/>
          </a:xfrm>
          <a:prstGeom prst="rect">
            <a:avLst/>
          </a:prstGeom>
          <a:noFill/>
        </p:spPr>
        <p:txBody>
          <a:bodyPr wrap="square" rtlCol="0">
            <a:spAutoFit/>
          </a:bodyPr>
          <a:lstStyle/>
          <a:p>
            <a:r>
              <a:rPr lang="en-IN" sz="2800" dirty="0"/>
              <a:t>GUIDED BY: </a:t>
            </a:r>
          </a:p>
          <a:p>
            <a:r>
              <a:rPr lang="en-IN" sz="2800" dirty="0"/>
              <a:t>MRS.ANAMIKA MAHAPATRA</a:t>
            </a:r>
          </a:p>
        </p:txBody>
      </p:sp>
    </p:spTree>
    <p:extLst>
      <p:ext uri="{BB962C8B-B14F-4D97-AF65-F5344CB8AC3E}">
        <p14:creationId xmlns:p14="http://schemas.microsoft.com/office/powerpoint/2010/main" val="1713380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24272" y="1166993"/>
            <a:ext cx="7026593" cy="708779"/>
          </a:xfrm>
          <a:prstGeom prst="rect">
            <a:avLst/>
          </a:prstGeom>
          <a:noFill/>
          <a:ln/>
        </p:spPr>
        <p:txBody>
          <a:bodyPr wrap="none" lIns="0" tIns="0" rIns="0" bIns="0" rtlCol="0" anchor="t"/>
          <a:lstStyle/>
          <a:p>
            <a:pPr marL="0" indent="0" algn="l">
              <a:lnSpc>
                <a:spcPts val="5550"/>
              </a:lnSpc>
              <a:buNone/>
            </a:pPr>
            <a:r>
              <a:rPr lang="en-US" sz="4800" b="1" u="sng" dirty="0">
                <a:solidFill>
                  <a:srgbClr val="1B1B27"/>
                </a:solidFill>
                <a:latin typeface="Raleway" pitchFamily="34" charset="0"/>
                <a:ea typeface="Raleway" pitchFamily="34" charset="-122"/>
                <a:cs typeface="Raleway" pitchFamily="34" charset="-120"/>
              </a:rPr>
              <a:t>Online Gaming &amp; Addiction</a:t>
            </a:r>
            <a:endParaRPr lang="en-US" sz="4800" b="1" u="sng" dirty="0"/>
          </a:p>
        </p:txBody>
      </p:sp>
      <p:sp>
        <p:nvSpPr>
          <p:cNvPr id="4" name="Text 1"/>
          <p:cNvSpPr/>
          <p:nvPr/>
        </p:nvSpPr>
        <p:spPr>
          <a:xfrm>
            <a:off x="425350" y="2652796"/>
            <a:ext cx="8556604" cy="2208571"/>
          </a:xfrm>
          <a:prstGeom prst="rect">
            <a:avLst/>
          </a:prstGeom>
          <a:noFill/>
          <a:ln/>
        </p:spPr>
        <p:txBody>
          <a:bodyPr wrap="square" lIns="0" tIns="0" rIns="0" bIns="0" rtlCol="0" anchor="t"/>
          <a:lstStyle/>
          <a:p>
            <a:pPr marL="0" indent="0" algn="l">
              <a:lnSpc>
                <a:spcPts val="2850"/>
              </a:lnSpc>
              <a:buNone/>
            </a:pPr>
            <a:r>
              <a:rPr lang="en-US" sz="2800" dirty="0">
                <a:solidFill>
                  <a:srgbClr val="3C3939"/>
                </a:solidFill>
                <a:latin typeface="Roboto" pitchFamily="34" charset="0"/>
                <a:ea typeface="Roboto" pitchFamily="34" charset="-122"/>
                <a:cs typeface="Roboto" pitchFamily="34" charset="-120"/>
              </a:rPr>
              <a:t>Online gaming — playing video games via the internet — has grown rapidly thanks to smartphones and high-speed connectivity. Popular across all ages, it is especially prevalent among young people. But when gaming becomes compulsive, the consequences can be serious.</a:t>
            </a:r>
            <a:endParaRPr lang="en-US" sz="2800" dirty="0"/>
          </a:p>
        </p:txBody>
      </p:sp>
      <p:sp>
        <p:nvSpPr>
          <p:cNvPr id="5" name="Shape 2"/>
          <p:cNvSpPr/>
          <p:nvPr/>
        </p:nvSpPr>
        <p:spPr>
          <a:xfrm>
            <a:off x="196770" y="5279469"/>
            <a:ext cx="2476779" cy="426244"/>
          </a:xfrm>
          <a:prstGeom prst="roundRect">
            <a:avLst>
              <a:gd name="adj" fmla="val 17880"/>
            </a:avLst>
          </a:prstGeom>
          <a:solidFill>
            <a:srgbClr val="E1E1EA"/>
          </a:solidFill>
          <a:ln/>
        </p:spPr>
      </p:sp>
      <p:sp>
        <p:nvSpPr>
          <p:cNvPr id="6" name="Text 3"/>
          <p:cNvSpPr/>
          <p:nvPr/>
        </p:nvSpPr>
        <p:spPr>
          <a:xfrm>
            <a:off x="279090" y="5320985"/>
            <a:ext cx="1607582" cy="290274"/>
          </a:xfrm>
          <a:prstGeom prst="rect">
            <a:avLst/>
          </a:prstGeom>
          <a:noFill/>
          <a:ln/>
        </p:spPr>
        <p:txBody>
          <a:bodyPr wrap="none" lIns="0" tIns="0" rIns="0" bIns="0" rtlCol="0" anchor="t"/>
          <a:lstStyle/>
          <a:p>
            <a:pPr marL="0" indent="0" algn="l">
              <a:lnSpc>
                <a:spcPts val="2250"/>
              </a:lnSpc>
              <a:buNone/>
            </a:pPr>
            <a:r>
              <a:rPr lang="en-US" sz="2000" dirty="0">
                <a:solidFill>
                  <a:srgbClr val="3C3939"/>
                </a:solidFill>
                <a:latin typeface="Roboto" pitchFamily="34" charset="0"/>
                <a:ea typeface="Roboto" pitchFamily="34" charset="-122"/>
                <a:cs typeface="Roboto" pitchFamily="34" charset="-120"/>
              </a:rPr>
              <a:t>AWARENESS GUIDE</a:t>
            </a:r>
            <a:endParaRPr lang="en-US" sz="2000" dirty="0"/>
          </a:p>
        </p:txBody>
      </p:sp>
      <p:sp>
        <p:nvSpPr>
          <p:cNvPr id="7" name="Shape 4"/>
          <p:cNvSpPr/>
          <p:nvPr/>
        </p:nvSpPr>
        <p:spPr>
          <a:xfrm>
            <a:off x="2801072" y="5191597"/>
            <a:ext cx="5556051" cy="549049"/>
          </a:xfrm>
          <a:prstGeom prst="roundRect">
            <a:avLst>
              <a:gd name="adj" fmla="val 17263"/>
            </a:avLst>
          </a:prstGeom>
          <a:noFill/>
          <a:ln w="7620">
            <a:solidFill>
              <a:srgbClr val="1B1B27"/>
            </a:solidFill>
            <a:prstDash val="solid"/>
          </a:ln>
        </p:spPr>
      </p:sp>
      <p:sp>
        <p:nvSpPr>
          <p:cNvPr id="8" name="Text 5"/>
          <p:cNvSpPr/>
          <p:nvPr/>
        </p:nvSpPr>
        <p:spPr>
          <a:xfrm>
            <a:off x="2930604" y="5347454"/>
            <a:ext cx="3745230" cy="290274"/>
          </a:xfrm>
          <a:prstGeom prst="rect">
            <a:avLst/>
          </a:prstGeom>
          <a:noFill/>
          <a:ln/>
        </p:spPr>
        <p:txBody>
          <a:bodyPr wrap="none" lIns="0" tIns="0" rIns="0" bIns="0" rtlCol="0" anchor="t"/>
          <a:lstStyle/>
          <a:p>
            <a:pPr marL="0" indent="0" algn="l">
              <a:lnSpc>
                <a:spcPts val="2250"/>
              </a:lnSpc>
              <a:buNone/>
            </a:pPr>
            <a:r>
              <a:rPr lang="en-US" sz="2000" dirty="0">
                <a:solidFill>
                  <a:srgbClr val="1B1B27"/>
                </a:solidFill>
                <a:latin typeface="Roboto" pitchFamily="34" charset="0"/>
                <a:ea typeface="Roboto" pitchFamily="34" charset="-122"/>
                <a:cs typeface="Roboto" pitchFamily="34" charset="-120"/>
              </a:rPr>
              <a:t>FOR PARENTS, EDUCATORS &amp; YOUNG ADULTS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12351" y="540306"/>
            <a:ext cx="7485459" cy="598051"/>
          </a:xfrm>
          <a:prstGeom prst="rect">
            <a:avLst/>
          </a:prstGeom>
          <a:noFill/>
          <a:ln/>
        </p:spPr>
        <p:txBody>
          <a:bodyPr wrap="none" lIns="0" tIns="0" rIns="0" bIns="0" rtlCol="0" anchor="t"/>
          <a:lstStyle/>
          <a:p>
            <a:pPr marL="0" indent="0" algn="l">
              <a:lnSpc>
                <a:spcPts val="4700"/>
              </a:lnSpc>
              <a:buNone/>
            </a:pPr>
            <a:r>
              <a:rPr lang="en-US" sz="4400" b="1" u="sng" dirty="0">
                <a:solidFill>
                  <a:srgbClr val="1B1B27"/>
                </a:solidFill>
                <a:latin typeface="Raleway" pitchFamily="34" charset="0"/>
                <a:ea typeface="Raleway" pitchFamily="34" charset="-122"/>
                <a:cs typeface="Raleway" pitchFamily="34" charset="-120"/>
              </a:rPr>
              <a:t>What is Online Gaming Addiction?</a:t>
            </a:r>
            <a:endParaRPr lang="en-US" sz="4400" b="1" u="sng" dirty="0"/>
          </a:p>
        </p:txBody>
      </p:sp>
      <p:sp>
        <p:nvSpPr>
          <p:cNvPr id="4" name="Text 1"/>
          <p:cNvSpPr/>
          <p:nvPr/>
        </p:nvSpPr>
        <p:spPr>
          <a:xfrm>
            <a:off x="428263" y="1729013"/>
            <a:ext cx="13669702" cy="4490978"/>
          </a:xfrm>
          <a:prstGeom prst="rect">
            <a:avLst/>
          </a:prstGeom>
          <a:noFill/>
          <a:ln/>
        </p:spPr>
        <p:txBody>
          <a:bodyPr wrap="square" lIns="0" tIns="0" rIns="0" bIns="0" rtlCol="0" anchor="t"/>
          <a:lstStyle/>
          <a:p>
            <a:pPr>
              <a:lnSpc>
                <a:spcPts val="2200"/>
              </a:lnSpc>
            </a:pPr>
            <a:r>
              <a:rPr lang="en-US" sz="2800" dirty="0"/>
              <a:t>Online gaming addiction is a condition where a person becomes excessively involved in</a:t>
            </a:r>
          </a:p>
          <a:p>
            <a:pPr>
              <a:lnSpc>
                <a:spcPts val="2200"/>
              </a:lnSpc>
            </a:pPr>
            <a:endParaRPr lang="en-US" sz="2800" dirty="0"/>
          </a:p>
          <a:p>
            <a:pPr>
              <a:lnSpc>
                <a:spcPts val="2200"/>
              </a:lnSpc>
            </a:pPr>
            <a:r>
              <a:rPr lang="en-US" sz="2800" dirty="0"/>
              <a:t> playing online video games to the point that it starts negatively affecting their daily life.</a:t>
            </a:r>
          </a:p>
          <a:p>
            <a:pPr>
              <a:lnSpc>
                <a:spcPts val="2200"/>
              </a:lnSpc>
            </a:pPr>
            <a:endParaRPr lang="en-US" sz="3200" dirty="0">
              <a:solidFill>
                <a:srgbClr val="3C3939"/>
              </a:solidFill>
              <a:latin typeface="Roboto" pitchFamily="34" charset="0"/>
              <a:ea typeface="Roboto" pitchFamily="34" charset="-122"/>
              <a:cs typeface="Roboto" pitchFamily="34" charset="-120"/>
            </a:endParaRPr>
          </a:p>
          <a:p>
            <a:pPr>
              <a:lnSpc>
                <a:spcPts val="2200"/>
              </a:lnSpc>
            </a:pPr>
            <a:endParaRPr lang="en-US" sz="2800" dirty="0">
              <a:solidFill>
                <a:srgbClr val="3C3939"/>
              </a:solidFill>
              <a:latin typeface="Roboto" pitchFamily="34" charset="0"/>
              <a:ea typeface="Roboto" pitchFamily="34" charset="-122"/>
              <a:cs typeface="Roboto" pitchFamily="34" charset="-120"/>
            </a:endParaRPr>
          </a:p>
          <a:p>
            <a:endParaRPr lang="en-US" sz="2800" b="1" dirty="0"/>
          </a:p>
          <a:p>
            <a:r>
              <a:rPr lang="en-US" sz="2800" b="1" dirty="0"/>
              <a:t>Key Features:</a:t>
            </a:r>
          </a:p>
          <a:p>
            <a:endParaRPr lang="en-US" sz="2800" b="1" dirty="0"/>
          </a:p>
          <a:p>
            <a:pPr marL="342900" indent="-342900">
              <a:buFont typeface="Arial" panose="020B0604020202020204" pitchFamily="34" charset="0"/>
              <a:buChar char="•"/>
            </a:pPr>
            <a:r>
              <a:rPr lang="en-US" sz="2800" dirty="0"/>
              <a:t>Spending many hours gaming every day </a:t>
            </a:r>
          </a:p>
          <a:p>
            <a:endParaRPr lang="en-US" sz="2800" dirty="0"/>
          </a:p>
          <a:p>
            <a:pPr marL="342900" indent="-342900">
              <a:buFont typeface="Arial" panose="020B0604020202020204" pitchFamily="34" charset="0"/>
              <a:buChar char="•"/>
            </a:pPr>
            <a:r>
              <a:rPr lang="en-US" sz="2800" dirty="0"/>
              <a:t>Feeling restless, irritated, or upset when not playing </a:t>
            </a:r>
          </a:p>
          <a:p>
            <a:endParaRPr lang="en-US" sz="2800" dirty="0"/>
          </a:p>
          <a:p>
            <a:pPr marL="342900" indent="-342900">
              <a:buFont typeface="Arial" panose="020B0604020202020204" pitchFamily="34" charset="0"/>
              <a:buChar char="•"/>
            </a:pPr>
            <a:r>
              <a:rPr lang="en-US" sz="2800" dirty="0"/>
              <a:t>Ignoring responsibilities like school, work, or family </a:t>
            </a:r>
          </a:p>
          <a:p>
            <a:endParaRPr lang="en-US" sz="2800" dirty="0"/>
          </a:p>
          <a:p>
            <a:pPr marL="342900" indent="-342900">
              <a:buFont typeface="Arial" panose="020B0604020202020204" pitchFamily="34" charset="0"/>
              <a:buChar char="•"/>
            </a:pPr>
            <a:r>
              <a:rPr lang="en-US" sz="2800" dirty="0"/>
              <a:t>Losing interest in other activities or hobbies </a:t>
            </a:r>
          </a:p>
          <a:p>
            <a:pPr marL="342900" indent="-342900">
              <a:lnSpc>
                <a:spcPts val="2200"/>
              </a:lnSpc>
              <a:buFont typeface="Arial" panose="020B0604020202020204" pitchFamily="34" charset="0"/>
              <a:buChar char="•"/>
            </a:pPr>
            <a:endParaRPr lang="en-US" sz="2800" dirty="0"/>
          </a:p>
          <a:p>
            <a:pPr marL="0" indent="0" algn="l">
              <a:lnSpc>
                <a:spcPts val="2200"/>
              </a:lnSpc>
              <a:buNone/>
            </a:pPr>
            <a:endParaRPr lang="en-US" sz="2800" dirty="0"/>
          </a:p>
        </p:txBody>
      </p:sp>
      <p:sp>
        <p:nvSpPr>
          <p:cNvPr id="7" name="Text 4"/>
          <p:cNvSpPr/>
          <p:nvPr/>
        </p:nvSpPr>
        <p:spPr>
          <a:xfrm>
            <a:off x="995124" y="6910745"/>
            <a:ext cx="3797260" cy="564356"/>
          </a:xfrm>
          <a:prstGeom prst="rect">
            <a:avLst/>
          </a:prstGeom>
          <a:noFill/>
          <a:ln/>
        </p:spPr>
        <p:txBody>
          <a:bodyPr wrap="square" lIns="0" tIns="0" rIns="0" bIns="0" rtlCol="0" anchor="t"/>
          <a:lstStyle/>
          <a:p>
            <a:pPr marL="0" indent="0" algn="l">
              <a:lnSpc>
                <a:spcPts val="2200"/>
              </a:lnSpc>
              <a:buNone/>
            </a:pPr>
            <a:endParaRPr lang="en-US" sz="2000" dirty="0"/>
          </a:p>
        </p:txBody>
      </p:sp>
      <p:sp>
        <p:nvSpPr>
          <p:cNvPr id="10" name="Text 7"/>
          <p:cNvSpPr/>
          <p:nvPr/>
        </p:nvSpPr>
        <p:spPr>
          <a:xfrm>
            <a:off x="5282327" y="6957703"/>
            <a:ext cx="3797260" cy="282178"/>
          </a:xfrm>
          <a:prstGeom prst="rect">
            <a:avLst/>
          </a:prstGeom>
          <a:noFill/>
          <a:ln/>
        </p:spPr>
        <p:txBody>
          <a:bodyPr wrap="none" lIns="0" tIns="0" rIns="0" bIns="0" rtlCol="0" anchor="t"/>
          <a:lstStyle/>
          <a:p>
            <a:pPr marL="0" indent="0" algn="l">
              <a:lnSpc>
                <a:spcPts val="2200"/>
              </a:lnSpc>
              <a:buNone/>
            </a:pPr>
            <a:endParaRPr lang="en-US" sz="2000" dirty="0"/>
          </a:p>
        </p:txBody>
      </p:sp>
      <p:sp>
        <p:nvSpPr>
          <p:cNvPr id="13" name="Text 10"/>
          <p:cNvSpPr/>
          <p:nvPr/>
        </p:nvSpPr>
        <p:spPr>
          <a:xfrm>
            <a:off x="9815036" y="6957703"/>
            <a:ext cx="2895124" cy="329136"/>
          </a:xfrm>
          <a:prstGeom prst="rect">
            <a:avLst/>
          </a:prstGeom>
          <a:noFill/>
          <a:ln/>
        </p:spPr>
        <p:txBody>
          <a:bodyPr wrap="none" lIns="0" tIns="0" rIns="0" bIns="0" rtlCol="0" anchor="t"/>
          <a:lstStyle/>
          <a:p>
            <a:pPr marL="0" indent="0" algn="l">
              <a:lnSpc>
                <a:spcPts val="2200"/>
              </a:lnSpc>
              <a:buNone/>
            </a:pPr>
            <a:endParaRPr lang="en-US" sz="1600" dirty="0"/>
          </a:p>
        </p:txBody>
      </p:sp>
      <p:sp>
        <p:nvSpPr>
          <p:cNvPr id="14" name="TextBox 13">
            <a:extLst>
              <a:ext uri="{FF2B5EF4-FFF2-40B4-BE49-F238E27FC236}">
                <a16:creationId xmlns:a16="http://schemas.microsoft.com/office/drawing/2014/main" id="{F7F88BB8-F706-8985-6459-8E290B14A7C3}"/>
              </a:ext>
            </a:extLst>
          </p:cNvPr>
          <p:cNvSpPr txBox="1"/>
          <p:nvPr/>
        </p:nvSpPr>
        <p:spPr>
          <a:xfrm>
            <a:off x="12559689" y="7747167"/>
            <a:ext cx="2070711" cy="428263"/>
          </a:xfrm>
          <a:prstGeom prst="rect">
            <a:avLst/>
          </a:prstGeom>
          <a:solidFill>
            <a:schemeClr val="bg1"/>
          </a:solidFill>
        </p:spPr>
        <p:txBody>
          <a:bodyPr wrap="square" rtlCol="0">
            <a:spAutoFit/>
          </a:bodyPr>
          <a:lstStyle/>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69846" y="533876"/>
            <a:ext cx="6970276" cy="598051"/>
          </a:xfrm>
          <a:prstGeom prst="rect">
            <a:avLst/>
          </a:prstGeom>
          <a:noFill/>
          <a:ln/>
        </p:spPr>
        <p:txBody>
          <a:bodyPr wrap="none" lIns="0" tIns="0" rIns="0" bIns="0" rtlCol="0" anchor="t"/>
          <a:lstStyle/>
          <a:p>
            <a:pPr marL="0" indent="0" algn="l">
              <a:lnSpc>
                <a:spcPts val="4700"/>
              </a:lnSpc>
              <a:buNone/>
            </a:pPr>
            <a:r>
              <a:rPr lang="en-US" sz="5400" b="1" u="sng" dirty="0">
                <a:solidFill>
                  <a:srgbClr val="1B1B27"/>
                </a:solidFill>
                <a:latin typeface="Raleway" pitchFamily="34" charset="0"/>
                <a:ea typeface="Raleway" pitchFamily="34" charset="-122"/>
                <a:cs typeface="Raleway" pitchFamily="34" charset="-120"/>
              </a:rPr>
              <a:t>What Drives Gaming Addiction?</a:t>
            </a:r>
            <a:endParaRPr lang="en-US" sz="5400" b="1" u="sng" dirty="0"/>
          </a:p>
        </p:txBody>
      </p:sp>
      <p:sp>
        <p:nvSpPr>
          <p:cNvPr id="5" name="Shape 2"/>
          <p:cNvSpPr/>
          <p:nvPr/>
        </p:nvSpPr>
        <p:spPr>
          <a:xfrm>
            <a:off x="868799" y="1573054"/>
            <a:ext cx="574119" cy="574119"/>
          </a:xfrm>
          <a:prstGeom prst="roundRect">
            <a:avLst>
              <a:gd name="adj" fmla="val 15925419"/>
            </a:avLst>
          </a:prstGeom>
          <a:solidFill>
            <a:srgbClr val="1B1B27"/>
          </a:solidFill>
          <a:ln/>
        </p:spPr>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26676" y="1730931"/>
            <a:ext cx="258366" cy="258366"/>
          </a:xfrm>
          <a:prstGeom prst="rect">
            <a:avLst/>
          </a:prstGeom>
        </p:spPr>
      </p:pic>
      <p:sp>
        <p:nvSpPr>
          <p:cNvPr id="7" name="Text 3"/>
          <p:cNvSpPr/>
          <p:nvPr/>
        </p:nvSpPr>
        <p:spPr>
          <a:xfrm>
            <a:off x="1592758" y="1765786"/>
            <a:ext cx="2392323" cy="298966"/>
          </a:xfrm>
          <a:prstGeom prst="rect">
            <a:avLst/>
          </a:prstGeom>
          <a:noFill/>
          <a:ln/>
        </p:spPr>
        <p:txBody>
          <a:bodyPr wrap="none" lIns="0" tIns="0" rIns="0" bIns="0" rtlCol="0" anchor="t"/>
          <a:lstStyle/>
          <a:p>
            <a:pPr marL="0" indent="0" algn="l">
              <a:lnSpc>
                <a:spcPts val="2350"/>
              </a:lnSpc>
              <a:buNone/>
            </a:pPr>
            <a:r>
              <a:rPr lang="en-US" sz="3200" dirty="0">
                <a:solidFill>
                  <a:srgbClr val="3C3939"/>
                </a:solidFill>
                <a:latin typeface="Raleway" pitchFamily="34" charset="0"/>
                <a:ea typeface="Raleway" pitchFamily="34" charset="-122"/>
                <a:cs typeface="Raleway" pitchFamily="34" charset="-120"/>
              </a:rPr>
              <a:t>Easy Access</a:t>
            </a:r>
            <a:endParaRPr lang="en-US" sz="3200" dirty="0"/>
          </a:p>
        </p:txBody>
      </p:sp>
      <p:sp>
        <p:nvSpPr>
          <p:cNvPr id="8" name="Text 4"/>
          <p:cNvSpPr/>
          <p:nvPr/>
        </p:nvSpPr>
        <p:spPr>
          <a:xfrm>
            <a:off x="868799" y="2345380"/>
            <a:ext cx="7406402" cy="564356"/>
          </a:xfrm>
          <a:prstGeom prst="rect">
            <a:avLst/>
          </a:prstGeom>
          <a:noFill/>
          <a:ln/>
        </p:spPr>
        <p:txBody>
          <a:bodyPr wrap="square" lIns="0" tIns="0" rIns="0" bIns="0" rtlCol="0" anchor="t"/>
          <a:lstStyle/>
          <a:p>
            <a:pPr marL="0" indent="0" algn="l">
              <a:lnSpc>
                <a:spcPts val="2200"/>
              </a:lnSpc>
              <a:buNone/>
            </a:pPr>
            <a:r>
              <a:rPr lang="en-US" sz="2400" dirty="0">
                <a:solidFill>
                  <a:srgbClr val="3C3939"/>
                </a:solidFill>
                <a:latin typeface="Roboto" pitchFamily="34" charset="0"/>
                <a:ea typeface="Roboto" pitchFamily="34" charset="-122"/>
                <a:cs typeface="Roboto" pitchFamily="34" charset="-120"/>
              </a:rPr>
              <a:t>Games are available 24/7 on mobile, PC, and</a:t>
            </a:r>
          </a:p>
          <a:p>
            <a:pPr marL="0" indent="0" algn="l">
              <a:lnSpc>
                <a:spcPts val="2200"/>
              </a:lnSpc>
              <a:buNone/>
            </a:pPr>
            <a:endParaRPr lang="en-US" sz="2400" dirty="0">
              <a:solidFill>
                <a:srgbClr val="3C3939"/>
              </a:solidFill>
              <a:latin typeface="Roboto" pitchFamily="34" charset="0"/>
              <a:ea typeface="Roboto" pitchFamily="34" charset="-122"/>
              <a:cs typeface="Roboto" pitchFamily="34" charset="-120"/>
            </a:endParaRPr>
          </a:p>
          <a:p>
            <a:pPr marL="0" indent="0" algn="l">
              <a:lnSpc>
                <a:spcPts val="2200"/>
              </a:lnSpc>
              <a:buNone/>
            </a:pPr>
            <a:r>
              <a:rPr lang="en-US" sz="2400" dirty="0">
                <a:solidFill>
                  <a:srgbClr val="3C3939"/>
                </a:solidFill>
                <a:latin typeface="Roboto" pitchFamily="34" charset="0"/>
                <a:ea typeface="Roboto" pitchFamily="34" charset="-122"/>
                <a:cs typeface="Roboto" pitchFamily="34" charset="-120"/>
              </a:rPr>
              <a:t>consoles—making it easy to play anytime, anywhere.</a:t>
            </a:r>
            <a:endParaRPr lang="en-US" sz="2400" dirty="0"/>
          </a:p>
        </p:txBody>
      </p:sp>
      <p:sp>
        <p:nvSpPr>
          <p:cNvPr id="10" name="Shape 6"/>
          <p:cNvSpPr/>
          <p:nvPr/>
        </p:nvSpPr>
        <p:spPr>
          <a:xfrm>
            <a:off x="868799" y="3828098"/>
            <a:ext cx="574119" cy="574119"/>
          </a:xfrm>
          <a:prstGeom prst="roundRect">
            <a:avLst>
              <a:gd name="adj" fmla="val 15925419"/>
            </a:avLst>
          </a:prstGeom>
          <a:solidFill>
            <a:srgbClr val="1B1B27"/>
          </a:solidFill>
          <a:ln/>
        </p:spPr>
      </p:sp>
      <p:pic>
        <p:nvPicPr>
          <p:cNvPr id="1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26676" y="3985974"/>
            <a:ext cx="258366" cy="258366"/>
          </a:xfrm>
          <a:prstGeom prst="rect">
            <a:avLst/>
          </a:prstGeom>
        </p:spPr>
      </p:pic>
      <p:sp>
        <p:nvSpPr>
          <p:cNvPr id="12" name="Text 7"/>
          <p:cNvSpPr/>
          <p:nvPr/>
        </p:nvSpPr>
        <p:spPr>
          <a:xfrm>
            <a:off x="1592757" y="4051696"/>
            <a:ext cx="2392323" cy="298966"/>
          </a:xfrm>
          <a:prstGeom prst="rect">
            <a:avLst/>
          </a:prstGeom>
          <a:noFill/>
          <a:ln/>
        </p:spPr>
        <p:txBody>
          <a:bodyPr wrap="none" lIns="0" tIns="0" rIns="0" bIns="0" rtlCol="0" anchor="t"/>
          <a:lstStyle/>
          <a:p>
            <a:pPr marL="0" indent="0" algn="l">
              <a:lnSpc>
                <a:spcPts val="2350"/>
              </a:lnSpc>
              <a:buNone/>
            </a:pPr>
            <a:r>
              <a:rPr lang="en-US" sz="3200" dirty="0">
                <a:solidFill>
                  <a:srgbClr val="3C3939"/>
                </a:solidFill>
                <a:latin typeface="Raleway" pitchFamily="34" charset="0"/>
                <a:ea typeface="Raleway" pitchFamily="34" charset="-122"/>
                <a:cs typeface="Raleway" pitchFamily="34" charset="-120"/>
              </a:rPr>
              <a:t>Social Connection</a:t>
            </a:r>
            <a:endParaRPr lang="en-US" sz="3200" dirty="0"/>
          </a:p>
        </p:txBody>
      </p:sp>
      <p:sp>
        <p:nvSpPr>
          <p:cNvPr id="13" name="Text 8"/>
          <p:cNvSpPr/>
          <p:nvPr/>
        </p:nvSpPr>
        <p:spPr>
          <a:xfrm>
            <a:off x="868799" y="4614505"/>
            <a:ext cx="7406402" cy="564356"/>
          </a:xfrm>
          <a:prstGeom prst="rect">
            <a:avLst/>
          </a:prstGeom>
          <a:noFill/>
          <a:ln/>
        </p:spPr>
        <p:txBody>
          <a:bodyPr wrap="square" lIns="0" tIns="0" rIns="0" bIns="0" rtlCol="0" anchor="t"/>
          <a:lstStyle/>
          <a:p>
            <a:pPr marL="0" indent="0" algn="l">
              <a:lnSpc>
                <a:spcPts val="2200"/>
              </a:lnSpc>
              <a:buNone/>
            </a:pPr>
            <a:r>
              <a:rPr lang="en-US" sz="2400" dirty="0">
                <a:solidFill>
                  <a:srgbClr val="3C3939"/>
                </a:solidFill>
                <a:latin typeface="Roboto" pitchFamily="34" charset="0"/>
                <a:ea typeface="Roboto" pitchFamily="34" charset="-122"/>
                <a:cs typeface="Roboto" pitchFamily="34" charset="-120"/>
              </a:rPr>
              <a:t>Multiplayer games offer community, competition, and</a:t>
            </a:r>
          </a:p>
          <a:p>
            <a:pPr marL="0" indent="0" algn="l">
              <a:lnSpc>
                <a:spcPts val="2200"/>
              </a:lnSpc>
              <a:buNone/>
            </a:pPr>
            <a:endParaRPr lang="en-US" sz="2400" dirty="0">
              <a:solidFill>
                <a:srgbClr val="3C3939"/>
              </a:solidFill>
              <a:latin typeface="Roboto" pitchFamily="34" charset="0"/>
              <a:ea typeface="Roboto" pitchFamily="34" charset="-122"/>
              <a:cs typeface="Roboto" pitchFamily="34" charset="-120"/>
            </a:endParaRPr>
          </a:p>
          <a:p>
            <a:pPr marL="0" indent="0" algn="l">
              <a:lnSpc>
                <a:spcPts val="2200"/>
              </a:lnSpc>
              <a:buNone/>
            </a:pPr>
            <a:r>
              <a:rPr lang="en-US" sz="2400" dirty="0">
                <a:solidFill>
                  <a:srgbClr val="3C3939"/>
                </a:solidFill>
                <a:latin typeface="Roboto" pitchFamily="34" charset="0"/>
                <a:ea typeface="Roboto" pitchFamily="34" charset="-122"/>
                <a:cs typeface="Roboto" pitchFamily="34" charset="-120"/>
              </a:rPr>
              <a:t>a sense of belonging that can feel hard to find offline.</a:t>
            </a:r>
            <a:endParaRPr lang="en-US" sz="2400" dirty="0"/>
          </a:p>
        </p:txBody>
      </p:sp>
      <p:sp>
        <p:nvSpPr>
          <p:cNvPr id="15" name="Shape 10"/>
          <p:cNvSpPr/>
          <p:nvPr/>
        </p:nvSpPr>
        <p:spPr>
          <a:xfrm>
            <a:off x="868799" y="6083141"/>
            <a:ext cx="574119" cy="574119"/>
          </a:xfrm>
          <a:prstGeom prst="roundRect">
            <a:avLst>
              <a:gd name="adj" fmla="val 15925419"/>
            </a:avLst>
          </a:prstGeom>
          <a:solidFill>
            <a:srgbClr val="1B1B27"/>
          </a:solidFill>
          <a:ln/>
        </p:spPr>
      </p:sp>
      <p:pic>
        <p:nvPicPr>
          <p:cNvPr id="16"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26676" y="6241018"/>
            <a:ext cx="258366" cy="258366"/>
          </a:xfrm>
          <a:prstGeom prst="rect">
            <a:avLst/>
          </a:prstGeom>
        </p:spPr>
      </p:pic>
      <p:sp>
        <p:nvSpPr>
          <p:cNvPr id="17" name="Text 11"/>
          <p:cNvSpPr/>
          <p:nvPr/>
        </p:nvSpPr>
        <p:spPr>
          <a:xfrm>
            <a:off x="1592756" y="6308824"/>
            <a:ext cx="2392323" cy="298966"/>
          </a:xfrm>
          <a:prstGeom prst="rect">
            <a:avLst/>
          </a:prstGeom>
          <a:noFill/>
          <a:ln/>
        </p:spPr>
        <p:txBody>
          <a:bodyPr wrap="none" lIns="0" tIns="0" rIns="0" bIns="0" rtlCol="0" anchor="t"/>
          <a:lstStyle/>
          <a:p>
            <a:pPr marL="0" indent="0" algn="l">
              <a:lnSpc>
                <a:spcPts val="2350"/>
              </a:lnSpc>
              <a:buNone/>
            </a:pPr>
            <a:r>
              <a:rPr lang="en-US" sz="3200" dirty="0">
                <a:solidFill>
                  <a:srgbClr val="3C3939"/>
                </a:solidFill>
                <a:latin typeface="Raleway" pitchFamily="34" charset="0"/>
                <a:ea typeface="Raleway" pitchFamily="34" charset="-122"/>
                <a:cs typeface="Raleway" pitchFamily="34" charset="-120"/>
              </a:rPr>
              <a:t>Reward Systems</a:t>
            </a:r>
            <a:endParaRPr lang="en-US" sz="3200" dirty="0"/>
          </a:p>
        </p:txBody>
      </p:sp>
      <p:sp>
        <p:nvSpPr>
          <p:cNvPr id="18" name="Text 12"/>
          <p:cNvSpPr/>
          <p:nvPr/>
        </p:nvSpPr>
        <p:spPr>
          <a:xfrm>
            <a:off x="985659" y="6869548"/>
            <a:ext cx="7406402" cy="282178"/>
          </a:xfrm>
          <a:prstGeom prst="rect">
            <a:avLst/>
          </a:prstGeom>
          <a:noFill/>
          <a:ln/>
        </p:spPr>
        <p:txBody>
          <a:bodyPr wrap="none" lIns="0" tIns="0" rIns="0" bIns="0" rtlCol="0" anchor="t"/>
          <a:lstStyle/>
          <a:p>
            <a:pPr marL="0" indent="0" algn="l">
              <a:lnSpc>
                <a:spcPts val="2200"/>
              </a:lnSpc>
              <a:buNone/>
            </a:pPr>
            <a:r>
              <a:rPr lang="en-US" sz="2400" dirty="0">
                <a:solidFill>
                  <a:srgbClr val="3C3939"/>
                </a:solidFill>
                <a:latin typeface="Roboto" pitchFamily="34" charset="0"/>
                <a:ea typeface="Roboto" pitchFamily="34" charset="-122"/>
                <a:cs typeface="Roboto" pitchFamily="34" charset="-120"/>
              </a:rPr>
              <a:t>Levels, points, and achievements the urge to keep playing.</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2903879" y="411950"/>
            <a:ext cx="6128974" cy="718072"/>
          </a:xfrm>
          <a:prstGeom prst="rect">
            <a:avLst/>
          </a:prstGeom>
          <a:noFill/>
          <a:ln/>
        </p:spPr>
        <p:txBody>
          <a:bodyPr wrap="none" lIns="0" tIns="0" rIns="0" bIns="0" rtlCol="0" anchor="t"/>
          <a:lstStyle/>
          <a:p>
            <a:pPr lvl="4">
              <a:lnSpc>
                <a:spcPts val="3650"/>
              </a:lnSpc>
            </a:pPr>
            <a:r>
              <a:rPr lang="en-US" sz="4400" b="1" u="sng" dirty="0">
                <a:solidFill>
                  <a:srgbClr val="1B1B27"/>
                </a:solidFill>
                <a:latin typeface="Raleway" pitchFamily="34" charset="0"/>
                <a:ea typeface="Raleway" pitchFamily="34" charset="-122"/>
                <a:cs typeface="Raleway" pitchFamily="34" charset="-120"/>
              </a:rPr>
              <a:t>Signs &amp; Symptoms</a:t>
            </a:r>
            <a:endParaRPr lang="en-US" sz="4400" b="1" u="sng" dirty="0"/>
          </a:p>
        </p:txBody>
      </p:sp>
      <p:sp>
        <p:nvSpPr>
          <p:cNvPr id="3" name="Text 1"/>
          <p:cNvSpPr/>
          <p:nvPr/>
        </p:nvSpPr>
        <p:spPr>
          <a:xfrm>
            <a:off x="312516" y="1856004"/>
            <a:ext cx="13343513" cy="1449469"/>
          </a:xfrm>
          <a:prstGeom prst="rect">
            <a:avLst/>
          </a:prstGeom>
          <a:noFill/>
          <a:ln/>
        </p:spPr>
        <p:txBody>
          <a:bodyPr wrap="square" lIns="0" tIns="0" rIns="0" bIns="0" rtlCol="0" anchor="t"/>
          <a:lstStyle/>
          <a:p>
            <a:pPr marL="0" indent="0" algn="l">
              <a:lnSpc>
                <a:spcPts val="1550"/>
              </a:lnSpc>
              <a:buNone/>
            </a:pPr>
            <a:r>
              <a:rPr lang="en-US" sz="2800" dirty="0">
                <a:solidFill>
                  <a:srgbClr val="3C3939"/>
                </a:solidFill>
                <a:ea typeface="Roboto" pitchFamily="34" charset="-122"/>
                <a:cs typeface="Roboto" pitchFamily="34" charset="-120"/>
              </a:rPr>
              <a:t>The key signs and symptoms of online gaming addiction which may indicate a developing</a:t>
            </a:r>
          </a:p>
          <a:p>
            <a:pPr marL="0" indent="0" algn="l">
              <a:lnSpc>
                <a:spcPts val="1550"/>
              </a:lnSpc>
              <a:buNone/>
            </a:pPr>
            <a:endParaRPr lang="en-US" sz="2800" dirty="0">
              <a:solidFill>
                <a:srgbClr val="3C3939"/>
              </a:solidFill>
              <a:ea typeface="Roboto" pitchFamily="34" charset="-122"/>
              <a:cs typeface="Roboto" pitchFamily="34" charset="-120"/>
            </a:endParaRPr>
          </a:p>
          <a:p>
            <a:pPr marL="0" indent="0" algn="l">
              <a:lnSpc>
                <a:spcPts val="1550"/>
              </a:lnSpc>
              <a:buNone/>
            </a:pPr>
            <a:r>
              <a:rPr lang="en-US" sz="2800" dirty="0">
                <a:solidFill>
                  <a:srgbClr val="3C3939"/>
                </a:solidFill>
                <a:ea typeface="Roboto" pitchFamily="34" charset="-122"/>
                <a:cs typeface="Roboto" pitchFamily="34" charset="-120"/>
              </a:rPr>
              <a:t> problem:</a:t>
            </a:r>
            <a:endParaRPr lang="en-US" sz="2800" dirty="0"/>
          </a:p>
        </p:txBody>
      </p:sp>
      <p:pic>
        <p:nvPicPr>
          <p:cNvPr id="4" name="Image 0" descr="preencoded.png"/>
          <p:cNvPicPr>
            <a:picLocks noChangeAspect="1"/>
          </p:cNvPicPr>
          <p:nvPr/>
        </p:nvPicPr>
        <p:blipFill>
          <a:blip r:embed="rId3"/>
          <a:stretch>
            <a:fillRect/>
          </a:stretch>
        </p:blipFill>
        <p:spPr>
          <a:xfrm>
            <a:off x="9005102" y="2684606"/>
            <a:ext cx="5567423" cy="3154822"/>
          </a:xfrm>
          <a:prstGeom prst="rect">
            <a:avLst/>
          </a:prstGeom>
        </p:spPr>
      </p:pic>
      <p:pic>
        <p:nvPicPr>
          <p:cNvPr id="5"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2516" y="3050034"/>
            <a:ext cx="223242" cy="223242"/>
          </a:xfrm>
          <a:prstGeom prst="rect">
            <a:avLst/>
          </a:prstGeom>
        </p:spPr>
      </p:pic>
      <p:sp>
        <p:nvSpPr>
          <p:cNvPr id="6" name="Text 2"/>
          <p:cNvSpPr/>
          <p:nvPr/>
        </p:nvSpPr>
        <p:spPr>
          <a:xfrm>
            <a:off x="610139" y="3093805"/>
            <a:ext cx="1897023" cy="232529"/>
          </a:xfrm>
          <a:prstGeom prst="rect">
            <a:avLst/>
          </a:prstGeom>
          <a:noFill/>
          <a:ln/>
        </p:spPr>
        <p:txBody>
          <a:bodyPr wrap="none" lIns="0" tIns="0" rIns="0" bIns="0" rtlCol="0" anchor="t"/>
          <a:lstStyle/>
          <a:p>
            <a:pPr marL="0" indent="0" algn="l">
              <a:lnSpc>
                <a:spcPts val="1800"/>
              </a:lnSpc>
              <a:buNone/>
            </a:pPr>
            <a:r>
              <a:rPr lang="en-US" sz="3200" dirty="0">
                <a:solidFill>
                  <a:srgbClr val="3C3939"/>
                </a:solidFill>
                <a:latin typeface="Raleway" pitchFamily="34" charset="0"/>
                <a:ea typeface="Raleway" pitchFamily="34" charset="-122"/>
                <a:cs typeface="Raleway" pitchFamily="34" charset="-120"/>
              </a:rPr>
              <a:t>Excessive screen time</a:t>
            </a:r>
            <a:endParaRPr lang="en-US" sz="3200" dirty="0"/>
          </a:p>
        </p:txBody>
      </p:sp>
      <p:sp>
        <p:nvSpPr>
          <p:cNvPr id="7" name="Text 3"/>
          <p:cNvSpPr/>
          <p:nvPr/>
        </p:nvSpPr>
        <p:spPr>
          <a:xfrm>
            <a:off x="312515" y="3581691"/>
            <a:ext cx="9787295" cy="197168"/>
          </a:xfrm>
          <a:prstGeom prst="rect">
            <a:avLst/>
          </a:prstGeom>
          <a:noFill/>
          <a:ln/>
        </p:spPr>
        <p:txBody>
          <a:bodyPr wrap="none" lIns="0" tIns="0" rIns="0" bIns="0" rtlCol="0" anchor="t"/>
          <a:lstStyle/>
          <a:p>
            <a:pPr marL="0" indent="0" algn="l">
              <a:lnSpc>
                <a:spcPts val="1550"/>
              </a:lnSpc>
              <a:buNone/>
            </a:pPr>
            <a:r>
              <a:rPr lang="en-US" sz="2400" dirty="0">
                <a:solidFill>
                  <a:srgbClr val="3C3939"/>
                </a:solidFill>
                <a:latin typeface="Roboto" pitchFamily="34" charset="0"/>
                <a:ea typeface="Roboto" pitchFamily="34" charset="-122"/>
                <a:cs typeface="Roboto" pitchFamily="34" charset="-120"/>
              </a:rPr>
              <a:t>Spending hours gaming, often losing track of time entirely.</a:t>
            </a:r>
          </a:p>
          <a:p>
            <a:pPr marL="0" indent="0" algn="l">
              <a:lnSpc>
                <a:spcPts val="1550"/>
              </a:lnSpc>
              <a:buNone/>
            </a:pPr>
            <a:endParaRPr lang="en-US" sz="2400" dirty="0">
              <a:solidFill>
                <a:srgbClr val="3C3939"/>
              </a:solidFill>
              <a:latin typeface="Roboto" pitchFamily="34" charset="0"/>
              <a:ea typeface="Roboto" pitchFamily="34" charset="-122"/>
              <a:cs typeface="Roboto" pitchFamily="34" charset="-120"/>
            </a:endParaRPr>
          </a:p>
          <a:p>
            <a:pPr marL="0" indent="0" algn="l">
              <a:lnSpc>
                <a:spcPts val="1550"/>
              </a:lnSpc>
              <a:buNone/>
            </a:pPr>
            <a:endParaRPr lang="en-US" sz="2400" dirty="0">
              <a:solidFill>
                <a:srgbClr val="3C3939"/>
              </a:solidFill>
              <a:latin typeface="Roboto" pitchFamily="34" charset="0"/>
              <a:ea typeface="Roboto" pitchFamily="34" charset="-122"/>
              <a:cs typeface="Roboto" pitchFamily="34" charset="-120"/>
            </a:endParaRPr>
          </a:p>
          <a:p>
            <a:pPr marL="0" indent="0" algn="l">
              <a:lnSpc>
                <a:spcPts val="1550"/>
              </a:lnSpc>
              <a:buNone/>
            </a:pPr>
            <a:endParaRPr lang="en-US" sz="24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4615" y="4256047"/>
            <a:ext cx="223242" cy="223242"/>
          </a:xfrm>
          <a:prstGeom prst="rect">
            <a:avLst/>
          </a:prstGeom>
        </p:spPr>
      </p:pic>
      <p:sp>
        <p:nvSpPr>
          <p:cNvPr id="9" name="Text 4"/>
          <p:cNvSpPr/>
          <p:nvPr/>
        </p:nvSpPr>
        <p:spPr>
          <a:xfrm>
            <a:off x="628356" y="4312083"/>
            <a:ext cx="2275523" cy="232529"/>
          </a:xfrm>
          <a:prstGeom prst="rect">
            <a:avLst/>
          </a:prstGeom>
          <a:noFill/>
          <a:ln/>
        </p:spPr>
        <p:txBody>
          <a:bodyPr wrap="none" lIns="0" tIns="0" rIns="0" bIns="0" rtlCol="0" anchor="t"/>
          <a:lstStyle/>
          <a:p>
            <a:pPr marL="0" indent="0" algn="l">
              <a:lnSpc>
                <a:spcPts val="1800"/>
              </a:lnSpc>
              <a:buNone/>
            </a:pPr>
            <a:r>
              <a:rPr lang="en-US" sz="3200" dirty="0">
                <a:solidFill>
                  <a:srgbClr val="3C3939"/>
                </a:solidFill>
                <a:latin typeface="Raleway" pitchFamily="34" charset="0"/>
                <a:ea typeface="Raleway" pitchFamily="34" charset="-122"/>
                <a:cs typeface="Raleway" pitchFamily="34" charset="-120"/>
              </a:rPr>
              <a:t>Neglecting</a:t>
            </a:r>
            <a:r>
              <a:rPr lang="en-US" sz="2000" dirty="0">
                <a:solidFill>
                  <a:srgbClr val="3C3939"/>
                </a:solidFill>
                <a:latin typeface="Raleway" pitchFamily="34" charset="0"/>
                <a:ea typeface="Raleway" pitchFamily="34" charset="-122"/>
                <a:cs typeface="Raleway" pitchFamily="34" charset="-120"/>
              </a:rPr>
              <a:t> </a:t>
            </a:r>
            <a:r>
              <a:rPr lang="en-US" sz="3200" dirty="0">
                <a:solidFill>
                  <a:srgbClr val="3C3939"/>
                </a:solidFill>
                <a:latin typeface="Raleway" pitchFamily="34" charset="0"/>
                <a:ea typeface="Raleway" pitchFamily="34" charset="-122"/>
                <a:cs typeface="Raleway" pitchFamily="34" charset="-120"/>
              </a:rPr>
              <a:t>responsibilities</a:t>
            </a:r>
            <a:endParaRPr lang="en-US" sz="3200" dirty="0"/>
          </a:p>
        </p:txBody>
      </p:sp>
      <p:sp>
        <p:nvSpPr>
          <p:cNvPr id="10" name="Text 5"/>
          <p:cNvSpPr/>
          <p:nvPr/>
        </p:nvSpPr>
        <p:spPr>
          <a:xfrm>
            <a:off x="312514" y="4780527"/>
            <a:ext cx="9787295" cy="197168"/>
          </a:xfrm>
          <a:prstGeom prst="rect">
            <a:avLst/>
          </a:prstGeom>
          <a:noFill/>
          <a:ln/>
        </p:spPr>
        <p:txBody>
          <a:bodyPr wrap="none" lIns="0" tIns="0" rIns="0" bIns="0" rtlCol="0" anchor="t"/>
          <a:lstStyle/>
          <a:p>
            <a:pPr marL="0" indent="0" algn="l">
              <a:lnSpc>
                <a:spcPts val="1550"/>
              </a:lnSpc>
              <a:buNone/>
            </a:pPr>
            <a:r>
              <a:rPr lang="en-US" sz="2400" dirty="0">
                <a:solidFill>
                  <a:srgbClr val="3C3939"/>
                </a:solidFill>
                <a:latin typeface="Roboto" pitchFamily="34" charset="0"/>
                <a:ea typeface="Roboto" pitchFamily="34" charset="-122"/>
                <a:cs typeface="Roboto" pitchFamily="34" charset="-120"/>
              </a:rPr>
              <a:t>Studies, work, or household tasks are consistently deprioritized.</a:t>
            </a:r>
            <a:endParaRPr lang="en-US" sz="24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03576" y="5405919"/>
            <a:ext cx="223242" cy="223242"/>
          </a:xfrm>
          <a:prstGeom prst="rect">
            <a:avLst/>
          </a:prstGeom>
        </p:spPr>
      </p:pic>
      <p:sp>
        <p:nvSpPr>
          <p:cNvPr id="12" name="Text 6"/>
          <p:cNvSpPr/>
          <p:nvPr/>
        </p:nvSpPr>
        <p:spPr>
          <a:xfrm>
            <a:off x="628356" y="5476801"/>
            <a:ext cx="1860590" cy="232529"/>
          </a:xfrm>
          <a:prstGeom prst="rect">
            <a:avLst/>
          </a:prstGeom>
          <a:noFill/>
          <a:ln/>
        </p:spPr>
        <p:txBody>
          <a:bodyPr wrap="none" lIns="0" tIns="0" rIns="0" bIns="0" rtlCol="0" anchor="t"/>
          <a:lstStyle/>
          <a:p>
            <a:pPr marL="0" indent="0" algn="l">
              <a:lnSpc>
                <a:spcPts val="1800"/>
              </a:lnSpc>
              <a:buNone/>
            </a:pPr>
            <a:r>
              <a:rPr lang="en-US" sz="3200" dirty="0">
                <a:solidFill>
                  <a:srgbClr val="3C3939"/>
                </a:solidFill>
                <a:latin typeface="Raleway" pitchFamily="34" charset="0"/>
                <a:ea typeface="Raleway" pitchFamily="34" charset="-122"/>
                <a:cs typeface="Raleway" pitchFamily="34" charset="-120"/>
              </a:rPr>
              <a:t>Sleep disruption</a:t>
            </a:r>
            <a:endParaRPr lang="en-US" sz="3200" dirty="0"/>
          </a:p>
        </p:txBody>
      </p:sp>
      <p:sp>
        <p:nvSpPr>
          <p:cNvPr id="13" name="Text 7"/>
          <p:cNvSpPr/>
          <p:nvPr/>
        </p:nvSpPr>
        <p:spPr>
          <a:xfrm>
            <a:off x="303576" y="5901121"/>
            <a:ext cx="9787295" cy="197168"/>
          </a:xfrm>
          <a:prstGeom prst="rect">
            <a:avLst/>
          </a:prstGeom>
          <a:noFill/>
          <a:ln/>
        </p:spPr>
        <p:txBody>
          <a:bodyPr wrap="none" lIns="0" tIns="0" rIns="0" bIns="0" rtlCol="0" anchor="t"/>
          <a:lstStyle/>
          <a:p>
            <a:pPr marL="0" indent="0" algn="l">
              <a:lnSpc>
                <a:spcPts val="1550"/>
              </a:lnSpc>
              <a:buNone/>
            </a:pPr>
            <a:r>
              <a:rPr lang="en-US" sz="2400" dirty="0">
                <a:solidFill>
                  <a:srgbClr val="3C3939"/>
                </a:solidFill>
                <a:latin typeface="Roboto" pitchFamily="34" charset="0"/>
                <a:ea typeface="Roboto" pitchFamily="34" charset="-122"/>
                <a:cs typeface="Roboto" pitchFamily="34" charset="-120"/>
              </a:rPr>
              <a:t>Staying up late to game, leading to chronic fatigue.</a:t>
            </a:r>
            <a:endParaRPr lang="en-US" sz="2400" dirty="0"/>
          </a:p>
        </p:txBody>
      </p:sp>
      <p:pic>
        <p:nvPicPr>
          <p:cNvPr id="14"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4615" y="6557162"/>
            <a:ext cx="223242" cy="223242"/>
          </a:xfrm>
          <a:prstGeom prst="rect">
            <a:avLst/>
          </a:prstGeom>
        </p:spPr>
      </p:pic>
      <p:sp>
        <p:nvSpPr>
          <p:cNvPr id="15" name="Text 8"/>
          <p:cNvSpPr/>
          <p:nvPr/>
        </p:nvSpPr>
        <p:spPr>
          <a:xfrm>
            <a:off x="632642" y="6629429"/>
            <a:ext cx="1892737" cy="232529"/>
          </a:xfrm>
          <a:prstGeom prst="rect">
            <a:avLst/>
          </a:prstGeom>
          <a:noFill/>
          <a:ln/>
        </p:spPr>
        <p:txBody>
          <a:bodyPr wrap="none" lIns="0" tIns="0" rIns="0" bIns="0" rtlCol="0" anchor="t"/>
          <a:lstStyle/>
          <a:p>
            <a:pPr marL="0" indent="0" algn="l">
              <a:lnSpc>
                <a:spcPts val="1800"/>
              </a:lnSpc>
              <a:buNone/>
            </a:pPr>
            <a:r>
              <a:rPr lang="en-US" sz="3200" dirty="0">
                <a:solidFill>
                  <a:srgbClr val="3C3939"/>
                </a:solidFill>
                <a:latin typeface="Raleway" pitchFamily="34" charset="0"/>
                <a:ea typeface="Raleway" pitchFamily="34" charset="-122"/>
                <a:cs typeface="Raleway" pitchFamily="34" charset="-120"/>
              </a:rPr>
              <a:t>Irritability when offline</a:t>
            </a:r>
            <a:endParaRPr lang="en-US" sz="3200" dirty="0"/>
          </a:p>
        </p:txBody>
      </p:sp>
      <p:sp>
        <p:nvSpPr>
          <p:cNvPr id="16" name="Text 9"/>
          <p:cNvSpPr/>
          <p:nvPr/>
        </p:nvSpPr>
        <p:spPr>
          <a:xfrm>
            <a:off x="303577" y="7163985"/>
            <a:ext cx="9787295" cy="197168"/>
          </a:xfrm>
          <a:prstGeom prst="rect">
            <a:avLst/>
          </a:prstGeom>
          <a:noFill/>
          <a:ln/>
        </p:spPr>
        <p:txBody>
          <a:bodyPr wrap="none" lIns="0" tIns="0" rIns="0" bIns="0" rtlCol="0" anchor="t"/>
          <a:lstStyle/>
          <a:p>
            <a:pPr marL="0" indent="0" algn="l">
              <a:lnSpc>
                <a:spcPts val="1550"/>
              </a:lnSpc>
              <a:buNone/>
            </a:pPr>
            <a:r>
              <a:rPr lang="en-US" sz="2400" dirty="0">
                <a:solidFill>
                  <a:srgbClr val="3C3939"/>
                </a:solidFill>
                <a:latin typeface="Roboto" pitchFamily="34" charset="0"/>
                <a:ea typeface="Roboto" pitchFamily="34" charset="-122"/>
                <a:cs typeface="Roboto" pitchFamily="34" charset="-120"/>
              </a:rPr>
              <a:t>Restlessness or anger when unable to access games.</a:t>
            </a:r>
            <a:endParaRPr lang="en-US" sz="2400" dirty="0"/>
          </a:p>
        </p:txBody>
      </p:sp>
      <p:sp>
        <p:nvSpPr>
          <p:cNvPr id="17" name="TextBox 16">
            <a:extLst>
              <a:ext uri="{FF2B5EF4-FFF2-40B4-BE49-F238E27FC236}">
                <a16:creationId xmlns:a16="http://schemas.microsoft.com/office/drawing/2014/main" id="{C8447A6F-1EFE-5F03-11D5-AEE7957F6C94}"/>
              </a:ext>
            </a:extLst>
          </p:cNvPr>
          <p:cNvSpPr txBox="1"/>
          <p:nvPr/>
        </p:nvSpPr>
        <p:spPr>
          <a:xfrm>
            <a:off x="12269164" y="7288117"/>
            <a:ext cx="2257063" cy="871637"/>
          </a:xfrm>
          <a:prstGeom prst="rect">
            <a:avLst/>
          </a:prstGeom>
          <a:solidFill>
            <a:schemeClr val="bg1"/>
          </a:solidFill>
        </p:spPr>
        <p:txBody>
          <a:bodyPr wrap="square" rtlCol="0">
            <a:spAutoFit/>
          </a:bodyPr>
          <a:lstStyle/>
          <a:p>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079183" y="554831"/>
            <a:ext cx="4518779" cy="564713"/>
          </a:xfrm>
          <a:prstGeom prst="rect">
            <a:avLst/>
          </a:prstGeom>
          <a:noFill/>
          <a:ln/>
        </p:spPr>
        <p:txBody>
          <a:bodyPr wrap="none" lIns="0" tIns="0" rIns="0" bIns="0" rtlCol="0" anchor="t"/>
          <a:lstStyle/>
          <a:p>
            <a:pPr marL="0" indent="0" algn="l">
              <a:lnSpc>
                <a:spcPts val="4400"/>
              </a:lnSpc>
              <a:buNone/>
            </a:pPr>
            <a:r>
              <a:rPr lang="en-US" sz="4000" b="1" u="sng" dirty="0">
                <a:solidFill>
                  <a:srgbClr val="1B1B27"/>
                </a:solidFill>
                <a:latin typeface="Raleway" pitchFamily="34" charset="0"/>
                <a:ea typeface="Raleway" pitchFamily="34" charset="-122"/>
                <a:cs typeface="Raleway" pitchFamily="34" charset="-120"/>
              </a:rPr>
              <a:t>Effects on Health</a:t>
            </a:r>
            <a:endParaRPr lang="en-US" sz="4000" b="1" u="sng" dirty="0"/>
          </a:p>
        </p:txBody>
      </p:sp>
      <p:pic>
        <p:nvPicPr>
          <p:cNvPr id="3" name="Image 0" descr="preencoded.png"/>
          <p:cNvPicPr>
            <a:picLocks noChangeAspect="1"/>
          </p:cNvPicPr>
          <p:nvPr/>
        </p:nvPicPr>
        <p:blipFill>
          <a:blip r:embed="rId3"/>
          <a:stretch>
            <a:fillRect/>
          </a:stretch>
        </p:blipFill>
        <p:spPr>
          <a:xfrm>
            <a:off x="330874" y="1592936"/>
            <a:ext cx="6015395" cy="6015395"/>
          </a:xfrm>
          <a:prstGeom prst="rect">
            <a:avLst/>
          </a:prstGeom>
        </p:spPr>
      </p:pic>
      <p:pic>
        <p:nvPicPr>
          <p:cNvPr id="4" name="Image 1" descr="preencoded.png"/>
          <p:cNvPicPr>
            <a:picLocks noChangeAspect="1"/>
          </p:cNvPicPr>
          <p:nvPr/>
        </p:nvPicPr>
        <p:blipFill>
          <a:blip r:embed="rId4"/>
          <a:stretch>
            <a:fillRect/>
          </a:stretch>
        </p:blipFill>
        <p:spPr>
          <a:xfrm>
            <a:off x="173622" y="1356240"/>
            <a:ext cx="4518780" cy="6015395"/>
          </a:xfrm>
          <a:prstGeom prst="rect">
            <a:avLst/>
          </a:prstGeom>
        </p:spPr>
      </p:pic>
      <p:sp>
        <p:nvSpPr>
          <p:cNvPr id="5" name="Text 1"/>
          <p:cNvSpPr/>
          <p:nvPr/>
        </p:nvSpPr>
        <p:spPr>
          <a:xfrm>
            <a:off x="9681578" y="918970"/>
            <a:ext cx="2259330" cy="282416"/>
          </a:xfrm>
          <a:prstGeom prst="rect">
            <a:avLst/>
          </a:prstGeom>
          <a:noFill/>
          <a:ln/>
        </p:spPr>
        <p:txBody>
          <a:bodyPr wrap="none" lIns="0" tIns="0" rIns="0" bIns="0" rtlCol="0" anchor="t"/>
          <a:lstStyle/>
          <a:p>
            <a:pPr marL="0" indent="0" algn="l">
              <a:lnSpc>
                <a:spcPts val="2200"/>
              </a:lnSpc>
              <a:buNone/>
            </a:pPr>
            <a:r>
              <a:rPr lang="en-US" sz="2400" b="1" u="sng" dirty="0">
                <a:solidFill>
                  <a:srgbClr val="1B1B27"/>
                </a:solidFill>
                <a:latin typeface="Raleway" pitchFamily="34" charset="0"/>
                <a:ea typeface="Raleway" pitchFamily="34" charset="-122"/>
                <a:cs typeface="Raleway" pitchFamily="34" charset="-120"/>
              </a:rPr>
              <a:t>Physical Effects</a:t>
            </a:r>
            <a:endParaRPr lang="en-US" sz="2400" b="1" u="sng" dirty="0"/>
          </a:p>
        </p:txBody>
      </p:sp>
      <p:sp>
        <p:nvSpPr>
          <p:cNvPr id="6" name="Text 2"/>
          <p:cNvSpPr/>
          <p:nvPr/>
        </p:nvSpPr>
        <p:spPr>
          <a:xfrm>
            <a:off x="7187879" y="1747776"/>
            <a:ext cx="7002684" cy="2367024"/>
          </a:xfrm>
          <a:prstGeom prst="rect">
            <a:avLst/>
          </a:prstGeom>
          <a:noFill/>
          <a:ln/>
        </p:spPr>
        <p:txBody>
          <a:bodyPr wrap="square" lIns="0" tIns="0" rIns="0" bIns="0" rtlCol="0" anchor="t"/>
          <a:lstStyle/>
          <a:p>
            <a:pPr marL="342900" indent="-342900" algn="l">
              <a:lnSpc>
                <a:spcPts val="2000"/>
              </a:lnSpc>
              <a:buSzPct val="100000"/>
              <a:buChar char="•"/>
            </a:pPr>
            <a:r>
              <a:rPr lang="en-US" sz="2400" dirty="0">
                <a:solidFill>
                  <a:srgbClr val="3C3939"/>
                </a:solidFill>
                <a:latin typeface="Roboto" pitchFamily="34" charset="0"/>
                <a:ea typeface="Roboto" pitchFamily="34" charset="-122"/>
                <a:cs typeface="Roboto" pitchFamily="34" charset="-120"/>
              </a:rPr>
              <a:t>Eye strain — Long screen time can cause</a:t>
            </a:r>
          </a:p>
          <a:p>
            <a:pPr algn="l">
              <a:lnSpc>
                <a:spcPts val="2000"/>
              </a:lnSpc>
              <a:buSzPct val="100000"/>
            </a:pPr>
            <a:endParaRPr lang="en-US" sz="2400" dirty="0">
              <a:solidFill>
                <a:srgbClr val="3C3939"/>
              </a:solidFill>
              <a:latin typeface="Roboto" pitchFamily="34" charset="0"/>
              <a:ea typeface="Roboto" pitchFamily="34" charset="-122"/>
              <a:cs typeface="Roboto" pitchFamily="34" charset="-120"/>
            </a:endParaRPr>
          </a:p>
          <a:p>
            <a:pPr algn="l">
              <a:lnSpc>
                <a:spcPts val="2000"/>
              </a:lnSpc>
              <a:buSzPct val="100000"/>
            </a:pPr>
            <a:r>
              <a:rPr lang="en-US" sz="2400" dirty="0">
                <a:solidFill>
                  <a:srgbClr val="3C3939"/>
                </a:solidFill>
                <a:latin typeface="Roboto" pitchFamily="34" charset="0"/>
                <a:ea typeface="Roboto" pitchFamily="34" charset="-122"/>
                <a:cs typeface="Roboto" pitchFamily="34" charset="-120"/>
              </a:rPr>
              <a:t> tired eyes, dryness, blurred vision, and headaches.</a:t>
            </a:r>
          </a:p>
          <a:p>
            <a:pPr algn="l">
              <a:lnSpc>
                <a:spcPts val="2000"/>
              </a:lnSpc>
              <a:buSzPct val="100000"/>
            </a:pPr>
            <a:endParaRPr lang="en-US" sz="2400" dirty="0">
              <a:solidFill>
                <a:srgbClr val="3C3939"/>
              </a:solidFill>
              <a:latin typeface="Roboto" pitchFamily="34" charset="0"/>
              <a:ea typeface="Roboto" pitchFamily="34" charset="-122"/>
              <a:cs typeface="Roboto" pitchFamily="34" charset="-120"/>
            </a:endParaRPr>
          </a:p>
          <a:p>
            <a:pPr marL="342900" indent="-342900" algn="l">
              <a:lnSpc>
                <a:spcPts val="2000"/>
              </a:lnSpc>
              <a:buSzPct val="100000"/>
              <a:buChar char="•"/>
            </a:pPr>
            <a:endParaRPr lang="en-US" sz="2400" dirty="0"/>
          </a:p>
          <a:p>
            <a:pPr marL="342900" indent="-342900" algn="l">
              <a:lnSpc>
                <a:spcPts val="2000"/>
              </a:lnSpc>
              <a:buSzPct val="100000"/>
              <a:buChar char="•"/>
            </a:pPr>
            <a:r>
              <a:rPr lang="en-US" sz="2400" dirty="0">
                <a:solidFill>
                  <a:srgbClr val="3C3939"/>
                </a:solidFill>
                <a:latin typeface="Roboto" pitchFamily="34" charset="0"/>
                <a:ea typeface="Roboto" pitchFamily="34" charset="-122"/>
                <a:cs typeface="Roboto" pitchFamily="34" charset="-120"/>
              </a:rPr>
              <a:t>Poor posture — Sitting for long periods in same</a:t>
            </a:r>
          </a:p>
          <a:p>
            <a:pPr marL="342900" indent="-342900" algn="l">
              <a:lnSpc>
                <a:spcPts val="2000"/>
              </a:lnSpc>
              <a:buSzPct val="100000"/>
              <a:buChar char="•"/>
            </a:pPr>
            <a:endParaRPr lang="en-US" sz="2400" dirty="0">
              <a:solidFill>
                <a:srgbClr val="3C3939"/>
              </a:solidFill>
              <a:latin typeface="Roboto" pitchFamily="34" charset="0"/>
              <a:ea typeface="Roboto" pitchFamily="34" charset="-122"/>
              <a:cs typeface="Roboto" pitchFamily="34" charset="-120"/>
            </a:endParaRPr>
          </a:p>
          <a:p>
            <a:pPr algn="l">
              <a:lnSpc>
                <a:spcPts val="2000"/>
              </a:lnSpc>
              <a:buSzPct val="100000"/>
            </a:pPr>
            <a:r>
              <a:rPr lang="en-US" sz="2400" dirty="0">
                <a:solidFill>
                  <a:srgbClr val="3C3939"/>
                </a:solidFill>
                <a:latin typeface="Roboto" pitchFamily="34" charset="0"/>
                <a:ea typeface="Roboto" pitchFamily="34" charset="-122"/>
                <a:cs typeface="Roboto" pitchFamily="34" charset="-120"/>
              </a:rPr>
              <a:t> positions can lead to back, neck, and shoulder pain</a:t>
            </a:r>
          </a:p>
          <a:p>
            <a:pPr algn="l">
              <a:lnSpc>
                <a:spcPts val="2000"/>
              </a:lnSpc>
              <a:buSzPct val="100000"/>
            </a:pPr>
            <a:endParaRPr lang="en-US" sz="2400" dirty="0"/>
          </a:p>
        </p:txBody>
      </p:sp>
      <p:sp>
        <p:nvSpPr>
          <p:cNvPr id="7" name="Text 3"/>
          <p:cNvSpPr/>
          <p:nvPr/>
        </p:nvSpPr>
        <p:spPr>
          <a:xfrm>
            <a:off x="9756324" y="4363938"/>
            <a:ext cx="2259330" cy="282416"/>
          </a:xfrm>
          <a:prstGeom prst="rect">
            <a:avLst/>
          </a:prstGeom>
          <a:noFill/>
          <a:ln/>
        </p:spPr>
        <p:txBody>
          <a:bodyPr wrap="none" lIns="0" tIns="0" rIns="0" bIns="0" rtlCol="0" anchor="t"/>
          <a:lstStyle/>
          <a:p>
            <a:pPr marL="0" indent="0" algn="l">
              <a:lnSpc>
                <a:spcPts val="2200"/>
              </a:lnSpc>
              <a:buNone/>
            </a:pPr>
            <a:r>
              <a:rPr lang="en-US" sz="2400" b="1" u="sng" dirty="0">
                <a:solidFill>
                  <a:srgbClr val="1B1B27"/>
                </a:solidFill>
                <a:latin typeface="Raleway" pitchFamily="34" charset="0"/>
                <a:ea typeface="Raleway" pitchFamily="34" charset="-122"/>
                <a:cs typeface="Raleway" pitchFamily="34" charset="-120"/>
              </a:rPr>
              <a:t>Mental Effects</a:t>
            </a:r>
            <a:endParaRPr lang="en-US" sz="2400" b="1" u="sng" dirty="0"/>
          </a:p>
        </p:txBody>
      </p:sp>
      <p:sp>
        <p:nvSpPr>
          <p:cNvPr id="8" name="Text 4"/>
          <p:cNvSpPr/>
          <p:nvPr/>
        </p:nvSpPr>
        <p:spPr>
          <a:xfrm>
            <a:off x="7315200" y="5151073"/>
            <a:ext cx="7141579" cy="2168474"/>
          </a:xfrm>
          <a:prstGeom prst="rect">
            <a:avLst/>
          </a:prstGeom>
          <a:noFill/>
          <a:ln/>
        </p:spPr>
        <p:txBody>
          <a:bodyPr wrap="square" lIns="0" tIns="0" rIns="0" bIns="0" rtlCol="0" anchor="t"/>
          <a:lstStyle/>
          <a:p>
            <a:pPr marL="342900" indent="-342900" algn="l">
              <a:lnSpc>
                <a:spcPts val="2000"/>
              </a:lnSpc>
              <a:buSzPct val="100000"/>
              <a:buChar char="•"/>
            </a:pPr>
            <a:r>
              <a:rPr lang="en-US" sz="2400" dirty="0">
                <a:solidFill>
                  <a:srgbClr val="3C3939"/>
                </a:solidFill>
                <a:latin typeface="Roboto" pitchFamily="34" charset="0"/>
                <a:ea typeface="Roboto" pitchFamily="34" charset="-122"/>
                <a:cs typeface="Roboto" pitchFamily="34" charset="-120"/>
              </a:rPr>
              <a:t>Anxiety &amp; depression — Excessive gaming can</a:t>
            </a:r>
          </a:p>
          <a:p>
            <a:pPr marL="342900" indent="-342900" algn="l">
              <a:lnSpc>
                <a:spcPts val="2000"/>
              </a:lnSpc>
              <a:buSzPct val="100000"/>
              <a:buChar char="•"/>
            </a:pPr>
            <a:endParaRPr lang="en-US" sz="2400" dirty="0">
              <a:solidFill>
                <a:srgbClr val="3C3939"/>
              </a:solidFill>
              <a:latin typeface="Roboto" pitchFamily="34" charset="0"/>
              <a:ea typeface="Roboto" pitchFamily="34" charset="-122"/>
              <a:cs typeface="Roboto" pitchFamily="34" charset="-120"/>
            </a:endParaRPr>
          </a:p>
          <a:p>
            <a:pPr algn="l">
              <a:lnSpc>
                <a:spcPts val="2000"/>
              </a:lnSpc>
              <a:buSzPct val="100000"/>
            </a:pPr>
            <a:r>
              <a:rPr lang="en-US" sz="2400" dirty="0">
                <a:solidFill>
                  <a:srgbClr val="3C3939"/>
                </a:solidFill>
                <a:latin typeface="Roboto" pitchFamily="34" charset="0"/>
                <a:ea typeface="Roboto" pitchFamily="34" charset="-122"/>
                <a:cs typeface="Roboto" pitchFamily="34" charset="-120"/>
              </a:rPr>
              <a:t> increase feelings of stress, sadness, and worry.</a:t>
            </a:r>
          </a:p>
          <a:p>
            <a:pPr algn="l">
              <a:lnSpc>
                <a:spcPts val="2000"/>
              </a:lnSpc>
              <a:buSzPct val="100000"/>
            </a:pPr>
            <a:endParaRPr lang="en-US" sz="2400" dirty="0">
              <a:solidFill>
                <a:srgbClr val="3C3939"/>
              </a:solidFill>
              <a:latin typeface="Roboto" pitchFamily="34" charset="0"/>
              <a:ea typeface="Roboto" pitchFamily="34" charset="-122"/>
              <a:cs typeface="Roboto" pitchFamily="34" charset="-120"/>
            </a:endParaRPr>
          </a:p>
          <a:p>
            <a:pPr marL="342900" indent="-342900" algn="l">
              <a:lnSpc>
                <a:spcPts val="2000"/>
              </a:lnSpc>
              <a:buSzPct val="100000"/>
              <a:buChar char="•"/>
            </a:pPr>
            <a:endParaRPr lang="en-US" sz="2400" dirty="0"/>
          </a:p>
          <a:p>
            <a:pPr marL="342900" indent="-342900" algn="l">
              <a:lnSpc>
                <a:spcPts val="2000"/>
              </a:lnSpc>
              <a:buSzPct val="100000"/>
              <a:buChar char="•"/>
            </a:pPr>
            <a:r>
              <a:rPr lang="en-US" sz="2400" dirty="0">
                <a:solidFill>
                  <a:srgbClr val="3C3939"/>
                </a:solidFill>
                <a:latin typeface="Roboto" pitchFamily="34" charset="0"/>
                <a:ea typeface="Roboto" pitchFamily="34" charset="-122"/>
                <a:cs typeface="Roboto" pitchFamily="34" charset="-120"/>
              </a:rPr>
              <a:t>Reduced concentration —Difficulty focusing on</a:t>
            </a:r>
          </a:p>
          <a:p>
            <a:pPr marL="342900" indent="-342900" algn="l">
              <a:lnSpc>
                <a:spcPts val="2000"/>
              </a:lnSpc>
              <a:buSzPct val="100000"/>
              <a:buChar char="•"/>
            </a:pPr>
            <a:endParaRPr lang="en-US" sz="2400" dirty="0">
              <a:solidFill>
                <a:srgbClr val="3C3939"/>
              </a:solidFill>
              <a:latin typeface="Roboto" pitchFamily="34" charset="0"/>
              <a:ea typeface="Roboto" pitchFamily="34" charset="-122"/>
              <a:cs typeface="Roboto" pitchFamily="34" charset="-120"/>
            </a:endParaRPr>
          </a:p>
          <a:p>
            <a:pPr algn="l">
              <a:lnSpc>
                <a:spcPts val="2000"/>
              </a:lnSpc>
              <a:buSzPct val="100000"/>
            </a:pPr>
            <a:r>
              <a:rPr lang="en-US" sz="2400" dirty="0">
                <a:solidFill>
                  <a:srgbClr val="3C3939"/>
                </a:solidFill>
                <a:latin typeface="Roboto" pitchFamily="34" charset="0"/>
                <a:ea typeface="Roboto" pitchFamily="34" charset="-122"/>
                <a:cs typeface="Roboto" pitchFamily="34" charset="-120"/>
              </a:rPr>
              <a:t> studies or daily tasks due to constant thoughts </a:t>
            </a:r>
          </a:p>
          <a:p>
            <a:pPr algn="l">
              <a:lnSpc>
                <a:spcPts val="2000"/>
              </a:lnSpc>
              <a:buSzPct val="100000"/>
            </a:pPr>
            <a:endParaRPr lang="en-US" sz="2400" dirty="0">
              <a:solidFill>
                <a:srgbClr val="3C3939"/>
              </a:solidFill>
              <a:latin typeface="Roboto" pitchFamily="34" charset="0"/>
              <a:ea typeface="Roboto" pitchFamily="34" charset="-122"/>
              <a:cs typeface="Roboto" pitchFamily="34" charset="-120"/>
            </a:endParaRPr>
          </a:p>
          <a:p>
            <a:pPr algn="l">
              <a:lnSpc>
                <a:spcPts val="2000"/>
              </a:lnSpc>
              <a:buSzPct val="100000"/>
            </a:pPr>
            <a:r>
              <a:rPr lang="en-US" sz="2400" dirty="0">
                <a:solidFill>
                  <a:srgbClr val="3C3939"/>
                </a:solidFill>
                <a:latin typeface="Roboto" pitchFamily="34" charset="0"/>
                <a:ea typeface="Roboto" pitchFamily="34" charset="-122"/>
                <a:cs typeface="Roboto" pitchFamily="34" charset="-120"/>
              </a:rPr>
              <a:t>about gaming.</a:t>
            </a:r>
            <a:endParaRPr lang="en-US" sz="2400" dirty="0"/>
          </a:p>
          <a:p>
            <a:pPr algn="l">
              <a:lnSpc>
                <a:spcPts val="2000"/>
              </a:lnSpc>
              <a:buSzPct val="100000"/>
            </a:pPr>
            <a:endParaRPr lang="en-US" sz="2400" b="1" dirty="0">
              <a:solidFill>
                <a:srgbClr val="3C3939"/>
              </a:solidFill>
              <a:latin typeface="Roboto" pitchFamily="34" charset="0"/>
              <a:ea typeface="Roboto" pitchFamily="34" charset="-122"/>
              <a:cs typeface="Roboto" pitchFamily="34" charset="-120"/>
            </a:endParaRPr>
          </a:p>
        </p:txBody>
      </p:sp>
      <p:sp>
        <p:nvSpPr>
          <p:cNvPr id="9" name="TextBox 8">
            <a:extLst>
              <a:ext uri="{FF2B5EF4-FFF2-40B4-BE49-F238E27FC236}">
                <a16:creationId xmlns:a16="http://schemas.microsoft.com/office/drawing/2014/main" id="{57C841CC-61AD-C58F-C639-8400DE5AF78B}"/>
              </a:ext>
            </a:extLst>
          </p:cNvPr>
          <p:cNvSpPr txBox="1"/>
          <p:nvPr/>
        </p:nvSpPr>
        <p:spPr>
          <a:xfrm>
            <a:off x="1412111" y="6853998"/>
            <a:ext cx="2361236" cy="400110"/>
          </a:xfrm>
          <a:prstGeom prst="rect">
            <a:avLst/>
          </a:prstGeom>
          <a:solidFill>
            <a:schemeClr val="bg1"/>
          </a:solidFill>
        </p:spPr>
        <p:txBody>
          <a:bodyPr wrap="square" rtlCol="0">
            <a:spAutoFit/>
          </a:bodyPr>
          <a:lstStyle/>
          <a:p>
            <a:endParaRPr lang="en-IN" sz="2000" dirty="0">
              <a:solidFill>
                <a:schemeClr val="bg1"/>
              </a:solidFill>
            </a:endParaRPr>
          </a:p>
        </p:txBody>
      </p:sp>
      <p:sp>
        <p:nvSpPr>
          <p:cNvPr id="10" name="TextBox 9">
            <a:extLst>
              <a:ext uri="{FF2B5EF4-FFF2-40B4-BE49-F238E27FC236}">
                <a16:creationId xmlns:a16="http://schemas.microsoft.com/office/drawing/2014/main" id="{D7B8F64B-F5EE-5F75-D312-3D71DC9DCE7C}"/>
              </a:ext>
            </a:extLst>
          </p:cNvPr>
          <p:cNvSpPr txBox="1"/>
          <p:nvPr/>
        </p:nvSpPr>
        <p:spPr>
          <a:xfrm>
            <a:off x="4363656" y="6853998"/>
            <a:ext cx="2361236" cy="400110"/>
          </a:xfrm>
          <a:prstGeom prst="rect">
            <a:avLst/>
          </a:prstGeom>
          <a:solidFill>
            <a:schemeClr val="bg1"/>
          </a:solidFill>
        </p:spPr>
        <p:txBody>
          <a:bodyPr wrap="square" rtlCol="0">
            <a:spAutoFit/>
          </a:bodyPr>
          <a:lstStyle/>
          <a:p>
            <a:endParaRPr lang="en-IN" sz="2000" dirty="0"/>
          </a:p>
        </p:txBody>
      </p:sp>
      <p:sp>
        <p:nvSpPr>
          <p:cNvPr id="11" name="TextBox 10">
            <a:extLst>
              <a:ext uri="{FF2B5EF4-FFF2-40B4-BE49-F238E27FC236}">
                <a16:creationId xmlns:a16="http://schemas.microsoft.com/office/drawing/2014/main" id="{BE2E64A1-BC86-591A-707A-D5222C604F85}"/>
              </a:ext>
            </a:extLst>
          </p:cNvPr>
          <p:cNvSpPr txBox="1"/>
          <p:nvPr/>
        </p:nvSpPr>
        <p:spPr>
          <a:xfrm>
            <a:off x="12813175" y="7712899"/>
            <a:ext cx="1817225" cy="400110"/>
          </a:xfrm>
          <a:prstGeom prst="rect">
            <a:avLst/>
          </a:prstGeom>
          <a:solidFill>
            <a:schemeClr val="bg1"/>
          </a:solidFill>
        </p:spPr>
        <p:txBody>
          <a:bodyPr wrap="square" rtlCol="0">
            <a:spAutoFit/>
          </a:bodyPr>
          <a:lstStyle/>
          <a:p>
            <a:endParaRPr lang="en-IN"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5ED0FF1-BE18-CA4A-9AA9-50969F01FF1C}"/>
              </a:ext>
            </a:extLst>
          </p:cNvPr>
          <p:cNvSpPr txBox="1"/>
          <p:nvPr/>
        </p:nvSpPr>
        <p:spPr>
          <a:xfrm>
            <a:off x="578734" y="914400"/>
            <a:ext cx="13588679" cy="4339650"/>
          </a:xfrm>
          <a:prstGeom prst="rect">
            <a:avLst/>
          </a:prstGeom>
          <a:noFill/>
        </p:spPr>
        <p:txBody>
          <a:bodyPr wrap="square" rtlCol="0">
            <a:spAutoFit/>
          </a:bodyPr>
          <a:lstStyle/>
          <a:p>
            <a:r>
              <a:rPr lang="en-US" sz="3600" b="1" u="sng" dirty="0"/>
              <a:t>Conclusion on Online Gaming Addiction:</a:t>
            </a:r>
          </a:p>
          <a:p>
            <a:endParaRPr lang="en-US" dirty="0"/>
          </a:p>
          <a:p>
            <a:r>
              <a:rPr lang="en-US" sz="2800" dirty="0"/>
              <a:t>Online gaming is a popular and enjoyable activity that can offer relaxation, entertainment, and even skill development when used in moderation. However, excessive gaming can turn into addiction, leading to serious negative effects on physical health, mental well-being, academic or work performance, and social relationships.</a:t>
            </a:r>
          </a:p>
          <a:p>
            <a:endParaRPr lang="en-IN" dirty="0"/>
          </a:p>
          <a:p>
            <a:endParaRPr lang="en-IN" dirty="0"/>
          </a:p>
          <a:p>
            <a:endParaRPr lang="en-IN" dirty="0"/>
          </a:p>
          <a:p>
            <a:r>
              <a:rPr lang="en-US" sz="2800" dirty="0"/>
              <a:t>Gaming is beneficial when controlled, but harmful when it becomes excessive—balance is the key.</a:t>
            </a:r>
            <a:endParaRPr lang="en-IN" sz="2800" dirty="0"/>
          </a:p>
        </p:txBody>
      </p:sp>
    </p:spTree>
    <p:extLst>
      <p:ext uri="{BB962C8B-B14F-4D97-AF65-F5344CB8AC3E}">
        <p14:creationId xmlns:p14="http://schemas.microsoft.com/office/powerpoint/2010/main" val="4234984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463</Words>
  <Application>Microsoft Office PowerPoint</Application>
  <PresentationFormat>Custom</PresentationFormat>
  <Paragraphs>85</Paragraphs>
  <Slides>7</Slides>
  <Notes>5</Notes>
  <HiddenSlides>0</HiddenSlides>
  <MMClips>0</MMClips>
  <ScaleCrop>false</ScaleCrop>
  <HeadingPairs>
    <vt:vector size="8" baseType="variant">
      <vt:variant>
        <vt:lpstr>Fonts Used</vt:lpstr>
      </vt:variant>
      <vt:variant>
        <vt:i4>3</vt:i4>
      </vt:variant>
      <vt:variant>
        <vt:lpstr>Theme</vt:lpstr>
      </vt:variant>
      <vt:variant>
        <vt:i4>1</vt:i4>
      </vt:variant>
      <vt:variant>
        <vt:lpstr>Slide Titles</vt:lpstr>
      </vt:variant>
      <vt:variant>
        <vt:i4>7</vt:i4>
      </vt:variant>
      <vt:variant>
        <vt:lpstr>Custom Shows</vt:lpstr>
      </vt:variant>
      <vt:variant>
        <vt:i4>1</vt:i4>
      </vt:variant>
    </vt:vector>
  </HeadingPairs>
  <TitlesOfParts>
    <vt:vector size="12" baseType="lpstr">
      <vt:lpstr>Raleway</vt:lpstr>
      <vt:lpstr>Roboto</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Soumaye Barnwal</dc:creator>
  <cp:lastModifiedBy>Devansh Tripathi</cp:lastModifiedBy>
  <cp:revision>3</cp:revision>
  <dcterms:created xsi:type="dcterms:W3CDTF">2026-04-23T08:49:17Z</dcterms:created>
  <dcterms:modified xsi:type="dcterms:W3CDTF">2026-04-23T10:48:34Z</dcterms:modified>
</cp:coreProperties>
</file>