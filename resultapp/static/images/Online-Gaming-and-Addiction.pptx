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4630400" cy="8229600"/>
  <p:notesSz cx="8229600" cy="14630400"/>
  <p:embeddedFontLst>
    <p:embeddedFont>
      <p:font typeface="Raleway" pitchFamily="2" charset="0"/>
      <p:regular r:id="rId9"/>
      <p:bold r:id="rId10"/>
    </p:embeddedFont>
    <p:embeddedFont>
      <p:font typeface="Roboto" panose="02000000000000000000" pitchFamily="2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957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FA9DEC-CD14-250F-2B46-F623A1CBA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11" y="1016129"/>
            <a:ext cx="5993245" cy="59932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799812-F591-932E-C8F7-F99EA5F9CB53}"/>
              </a:ext>
            </a:extLst>
          </p:cNvPr>
          <p:cNvSpPr txBox="1"/>
          <p:nvPr/>
        </p:nvSpPr>
        <p:spPr>
          <a:xfrm>
            <a:off x="5764191" y="2227212"/>
            <a:ext cx="9641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SCHOOL OF ENGINEERING AND RESEARCH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1F808-8EC2-83CB-B5D7-544AAA036D4D}"/>
              </a:ext>
            </a:extLst>
          </p:cNvPr>
          <p:cNvSpPr txBox="1"/>
          <p:nvPr/>
        </p:nvSpPr>
        <p:spPr>
          <a:xfrm>
            <a:off x="6944810" y="2885118"/>
            <a:ext cx="58452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         ENGLISH PRESENTATION: </a:t>
            </a:r>
          </a:p>
          <a:p>
            <a:r>
              <a:rPr lang="en-IN" sz="3200" b="1" dirty="0"/>
              <a:t>     ONLINE GAMING ADDICTION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0DC10F-EEBC-2BF6-3384-E5D9E39785A6}"/>
              </a:ext>
            </a:extLst>
          </p:cNvPr>
          <p:cNvSpPr txBox="1"/>
          <p:nvPr/>
        </p:nvSpPr>
        <p:spPr>
          <a:xfrm>
            <a:off x="6366076" y="4826643"/>
            <a:ext cx="73614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NAME – SOUMAYE BARNWAL </a:t>
            </a:r>
          </a:p>
          <a:p>
            <a:r>
              <a:rPr lang="en-IN" sz="2800" dirty="0"/>
              <a:t>BCA (CTIS) 4</a:t>
            </a:r>
            <a:r>
              <a:rPr lang="en-IN" sz="2800" baseline="30000" dirty="0"/>
              <a:t>TH</a:t>
            </a:r>
            <a:r>
              <a:rPr lang="en-IN" sz="2800" dirty="0"/>
              <a:t> SEM</a:t>
            </a:r>
          </a:p>
          <a:p>
            <a:r>
              <a:rPr lang="en-IN" sz="2800" dirty="0"/>
              <a:t>130410424042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5E38FC-AA9A-C9A2-3975-7CFE5FF9552D}"/>
              </a:ext>
            </a:extLst>
          </p:cNvPr>
          <p:cNvSpPr txBox="1"/>
          <p:nvPr/>
        </p:nvSpPr>
        <p:spPr>
          <a:xfrm>
            <a:off x="8611565" y="7009374"/>
            <a:ext cx="4606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GUIDED BY: </a:t>
            </a:r>
          </a:p>
          <a:p>
            <a:r>
              <a:rPr lang="en-IN" sz="2800" dirty="0"/>
              <a:t>MRS.ANAMIKA MAHAPATRA</a:t>
            </a:r>
          </a:p>
        </p:txBody>
      </p:sp>
    </p:spTree>
    <p:extLst>
      <p:ext uri="{BB962C8B-B14F-4D97-AF65-F5344CB8AC3E}">
        <p14:creationId xmlns:p14="http://schemas.microsoft.com/office/powerpoint/2010/main" val="171338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837" y="1237359"/>
            <a:ext cx="70265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Online Gaming &amp; Addiction</a:t>
            </a:r>
            <a:endParaRPr lang="en-US" sz="5400" b="1" u="sng" dirty="0"/>
          </a:p>
        </p:txBody>
      </p:sp>
      <p:sp>
        <p:nvSpPr>
          <p:cNvPr id="4" name="Text 1"/>
          <p:cNvSpPr/>
          <p:nvPr/>
        </p:nvSpPr>
        <p:spPr>
          <a:xfrm>
            <a:off x="425350" y="2652796"/>
            <a:ext cx="8116766" cy="1781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gaming — playing video games via the internet — has grown rapidly thanks to smartphones and high-speed connectivity. Popular across all ages, it is especially prevalent among young people. But when gaming becomes compulsive, the consequences can be serious.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96770" y="5279469"/>
            <a:ext cx="2476779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279090" y="5320985"/>
            <a:ext cx="160758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AWARENESS GUIDE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801072" y="5191597"/>
            <a:ext cx="5486401" cy="549049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30604" y="5347454"/>
            <a:ext cx="37452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PARENTS, EDUCATORS &amp; YOUNG ADULTS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40306"/>
            <a:ext cx="7485459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400" b="1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Online Gaming Addiction?</a:t>
            </a:r>
            <a:endParaRPr lang="en-US" sz="4400" b="1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1" y="1562100"/>
            <a:ext cx="8420100" cy="47713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48061" y="3171463"/>
            <a:ext cx="5266592" cy="153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gaming addiction is a condition where a person becomes excessively involved in playing online video games to the point that it starts negatively affecting their daily life. </a:t>
            </a:r>
            <a:endParaRPr lang="en-US" sz="2400" dirty="0"/>
          </a:p>
          <a:p>
            <a:pPr marL="0" indent="0" algn="l">
              <a:lnSpc>
                <a:spcPts val="2200"/>
              </a:lnSpc>
              <a:buNone/>
            </a:pP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12351" y="6696551"/>
            <a:ext cx="4294227" cy="992743"/>
          </a:xfrm>
          <a:prstGeom prst="roundRect">
            <a:avLst>
              <a:gd name="adj" fmla="val 1105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9491" y="6696551"/>
            <a:ext cx="91440" cy="992743"/>
          </a:xfrm>
          <a:prstGeom prst="roundRect">
            <a:avLst>
              <a:gd name="adj" fmla="val 87907"/>
            </a:avLst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995124" y="6910745"/>
            <a:ext cx="379726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issues like lack of sleep and eye strain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90887" y="6696551"/>
            <a:ext cx="4294227" cy="992743"/>
          </a:xfrm>
          <a:prstGeom prst="roundRect">
            <a:avLst>
              <a:gd name="adj" fmla="val 1105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45167" y="6696551"/>
            <a:ext cx="91440" cy="992743"/>
          </a:xfrm>
          <a:prstGeom prst="roundRect">
            <a:avLst>
              <a:gd name="adj" fmla="val 87907"/>
            </a:avLst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5282327" y="6957703"/>
            <a:ext cx="379726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academic or work performance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623703" y="6696551"/>
            <a:ext cx="4294227" cy="992743"/>
          </a:xfrm>
          <a:prstGeom prst="roundRect">
            <a:avLst>
              <a:gd name="adj" fmla="val 1105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00843" y="6696551"/>
            <a:ext cx="91440" cy="992743"/>
          </a:xfrm>
          <a:prstGeom prst="roundRect">
            <a:avLst>
              <a:gd name="adj" fmla="val 87907"/>
            </a:avLst>
          </a:prstGeom>
          <a:solidFill>
            <a:srgbClr val="1B1B27"/>
          </a:solidFill>
          <a:ln/>
        </p:spPr>
      </p:sp>
      <p:sp>
        <p:nvSpPr>
          <p:cNvPr id="13" name="Text 10"/>
          <p:cNvSpPr/>
          <p:nvPr/>
        </p:nvSpPr>
        <p:spPr>
          <a:xfrm>
            <a:off x="9815036" y="6957703"/>
            <a:ext cx="2895124" cy="329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Losing interest in other activities or hobbies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F88BB8-F706-8985-6459-8E290B14A7C3}"/>
              </a:ext>
            </a:extLst>
          </p:cNvPr>
          <p:cNvSpPr txBox="1"/>
          <p:nvPr/>
        </p:nvSpPr>
        <p:spPr>
          <a:xfrm>
            <a:off x="12559689" y="7747167"/>
            <a:ext cx="2070711" cy="4282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846" y="533876"/>
            <a:ext cx="697027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800" b="1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Drives Gaming Addiction?</a:t>
            </a:r>
            <a:endParaRPr lang="en-US" sz="4800" b="1" u="sng" dirty="0"/>
          </a:p>
        </p:txBody>
      </p:sp>
      <p:sp>
        <p:nvSpPr>
          <p:cNvPr id="4" name="Shape 1"/>
          <p:cNvSpPr/>
          <p:nvPr/>
        </p:nvSpPr>
        <p:spPr>
          <a:xfrm>
            <a:off x="669846" y="1374100"/>
            <a:ext cx="7804309" cy="2093595"/>
          </a:xfrm>
          <a:prstGeom prst="roundRect">
            <a:avLst>
              <a:gd name="adj" fmla="val 383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799" y="1573054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1B1B2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6676" y="1730931"/>
            <a:ext cx="258366" cy="2583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798" y="225201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Easy Access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68799" y="2704386"/>
            <a:ext cx="740640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Games are available 24/7 on mobile, PC, and consoles — making it easy to play anytime, anywhere.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69846" y="3629144"/>
            <a:ext cx="7804309" cy="2093595"/>
          </a:xfrm>
          <a:prstGeom prst="roundRect">
            <a:avLst>
              <a:gd name="adj" fmla="val 383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799" y="3828098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1B1B2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6676" y="3985974"/>
            <a:ext cx="258366" cy="2583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799" y="456366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 Connection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868799" y="4959429"/>
            <a:ext cx="740640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Multiplayer games offer community, competition, and a sense of belonging that can feel hard to find offline.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669846" y="5884188"/>
            <a:ext cx="7804309" cy="1811417"/>
          </a:xfrm>
          <a:prstGeom prst="roundRect">
            <a:avLst>
              <a:gd name="adj" fmla="val 443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68799" y="6083141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1B1B2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6676" y="6241018"/>
            <a:ext cx="258366" cy="25836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799" y="6818709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Reward Systems</a:t>
            </a:r>
            <a:endParaRPr lang="en-US" sz="2800" dirty="0"/>
          </a:p>
        </p:txBody>
      </p:sp>
      <p:sp>
        <p:nvSpPr>
          <p:cNvPr id="18" name="Text 12"/>
          <p:cNvSpPr/>
          <p:nvPr/>
        </p:nvSpPr>
        <p:spPr>
          <a:xfrm>
            <a:off x="868799" y="7214473"/>
            <a:ext cx="74064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Levels, points, and achievements the urge to keep playing.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2664" y="411950"/>
            <a:ext cx="6128974" cy="718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4">
              <a:lnSpc>
                <a:spcPts val="3650"/>
              </a:lnSpc>
            </a:pPr>
            <a:r>
              <a:rPr lang="en-US" sz="4400" b="1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Signs &amp; Symptoms to Watch For</a:t>
            </a:r>
            <a:endParaRPr lang="en-US" sz="4400" b="1" u="sng" dirty="0"/>
          </a:p>
        </p:txBody>
      </p:sp>
      <p:sp>
        <p:nvSpPr>
          <p:cNvPr id="3" name="Text 1"/>
          <p:cNvSpPr/>
          <p:nvPr/>
        </p:nvSpPr>
        <p:spPr>
          <a:xfrm>
            <a:off x="312516" y="1940948"/>
            <a:ext cx="6641631" cy="149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key signs and symptoms of online</a:t>
            </a:r>
          </a:p>
          <a:p>
            <a:pPr marL="0" indent="0" algn="l">
              <a:lnSpc>
                <a:spcPts val="1550"/>
              </a:lnSpc>
              <a:buNone/>
            </a:pPr>
            <a:endParaRPr lang="en-US" sz="28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gaming addiction which may indicate a </a:t>
            </a:r>
          </a:p>
          <a:p>
            <a:pPr marL="0" indent="0" algn="l">
              <a:lnSpc>
                <a:spcPts val="1550"/>
              </a:lnSpc>
              <a:buNone/>
            </a:pPr>
            <a:endParaRPr lang="en-US" sz="28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developing problem: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804" y="2156076"/>
            <a:ext cx="5849080" cy="331442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114" y="4422330"/>
            <a:ext cx="223242" cy="2232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6405" y="4431501"/>
            <a:ext cx="189702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Excessive screen time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766400" y="4820925"/>
            <a:ext cx="9787295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Spending hours gaming, often losing track of time entirely.</a:t>
            </a:r>
          </a:p>
          <a:p>
            <a:pPr marL="0" indent="0" algn="l">
              <a:lnSpc>
                <a:spcPts val="1550"/>
              </a:lnSpc>
              <a:buNone/>
            </a:pPr>
            <a:endParaRPr lang="en-US" sz="20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endParaRPr lang="en-US" sz="20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endParaRPr lang="en-US" sz="2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114" y="5260631"/>
            <a:ext cx="223242" cy="2232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2900" y="5237972"/>
            <a:ext cx="227552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Neglecting</a:t>
            </a: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responsibilities</a:t>
            </a: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766401" y="5659174"/>
            <a:ext cx="9787295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Studies, work, or household tasks are consistently deprioritized.</a:t>
            </a:r>
            <a:endParaRPr lang="en-US" sz="2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114" y="6098932"/>
            <a:ext cx="223242" cy="2232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6404" y="609893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Sleep disruption</a:t>
            </a:r>
            <a:endParaRPr lang="en-US" sz="2800" dirty="0"/>
          </a:p>
        </p:txBody>
      </p:sp>
      <p:sp>
        <p:nvSpPr>
          <p:cNvPr id="13" name="Text 7"/>
          <p:cNvSpPr/>
          <p:nvPr/>
        </p:nvSpPr>
        <p:spPr>
          <a:xfrm>
            <a:off x="766399" y="6479931"/>
            <a:ext cx="9787295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Staying up late to game, leading to chronic fatigue.</a:t>
            </a:r>
            <a:endParaRPr lang="en-US" sz="2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114" y="6937233"/>
            <a:ext cx="223242" cy="22324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2900" y="6950586"/>
            <a:ext cx="1892737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Irritability when offline</a:t>
            </a:r>
            <a:endParaRPr lang="en-US" sz="2800" dirty="0"/>
          </a:p>
        </p:txBody>
      </p:sp>
      <p:sp>
        <p:nvSpPr>
          <p:cNvPr id="16" name="Text 9"/>
          <p:cNvSpPr/>
          <p:nvPr/>
        </p:nvSpPr>
        <p:spPr>
          <a:xfrm>
            <a:off x="766398" y="7358018"/>
            <a:ext cx="9787295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Restlessness or anger when unable to access games.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447A6F-1EFE-5F03-11D5-AEE7957F6C94}"/>
              </a:ext>
            </a:extLst>
          </p:cNvPr>
          <p:cNvSpPr txBox="1"/>
          <p:nvPr/>
        </p:nvSpPr>
        <p:spPr>
          <a:xfrm>
            <a:off x="12269164" y="7288117"/>
            <a:ext cx="2257063" cy="87163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451877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Effects on Health</a:t>
            </a:r>
            <a:endParaRPr lang="en-US" sz="4000" b="1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81578" y="918970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Physical Effects</a:t>
            </a:r>
            <a:endParaRPr lang="en-US" sz="2400" b="1" u="sng" dirty="0"/>
          </a:p>
        </p:txBody>
      </p:sp>
      <p:sp>
        <p:nvSpPr>
          <p:cNvPr id="6" name="Text 2"/>
          <p:cNvSpPr/>
          <p:nvPr/>
        </p:nvSpPr>
        <p:spPr>
          <a:xfrm>
            <a:off x="7516567" y="1460086"/>
            <a:ext cx="6015395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Eye strain — Long screen time can cause tired eyes, dryness, blurred vision, and headaches.</a:t>
            </a: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endParaRPr lang="en-US" sz="2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posture — Sitting for long periods in same positions can lead to back, neck, and shoulder pain</a:t>
            </a: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endParaRPr lang="en-US" sz="2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Sleep deprivation — Late-night gaming disrupts sleep patterns.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9916015" y="4518185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u="sng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Mental Effects</a:t>
            </a:r>
            <a:endParaRPr lang="en-US" sz="2400" b="1" u="sng" dirty="0"/>
          </a:p>
        </p:txBody>
      </p:sp>
      <p:sp>
        <p:nvSpPr>
          <p:cNvPr id="8" name="Text 4"/>
          <p:cNvSpPr/>
          <p:nvPr/>
        </p:nvSpPr>
        <p:spPr>
          <a:xfrm>
            <a:off x="7803545" y="5097738"/>
            <a:ext cx="6015395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Anxiety &amp; depression — Excessive gaming can increase feelings of stress, sadness, and worry.</a:t>
            </a: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endParaRPr lang="en-US" sz="2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concentration —Difficulty focusing on studies or daily tasks due to constant thoughts about gaming.</a:t>
            </a:r>
            <a:endParaRPr lang="en-US" sz="2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endParaRPr lang="en-US" sz="2400" b="1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Emotional dysregulation — Trouble controlling emotions.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841CC-61AD-C58F-C639-8400DE5AF78B}"/>
              </a:ext>
            </a:extLst>
          </p:cNvPr>
          <p:cNvSpPr txBox="1"/>
          <p:nvPr/>
        </p:nvSpPr>
        <p:spPr>
          <a:xfrm>
            <a:off x="1412111" y="6853998"/>
            <a:ext cx="23612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B8F64B-F5EE-5F75-D312-3D71DC9DCE7C}"/>
              </a:ext>
            </a:extLst>
          </p:cNvPr>
          <p:cNvSpPr txBox="1"/>
          <p:nvPr/>
        </p:nvSpPr>
        <p:spPr>
          <a:xfrm>
            <a:off x="4363656" y="6853998"/>
            <a:ext cx="23612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E64A1-BC86-591A-707A-D5222C604F85}"/>
              </a:ext>
            </a:extLst>
          </p:cNvPr>
          <p:cNvSpPr txBox="1"/>
          <p:nvPr/>
        </p:nvSpPr>
        <p:spPr>
          <a:xfrm>
            <a:off x="12813175" y="7712899"/>
            <a:ext cx="181722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385</Words>
  <Application>Microsoft Office PowerPoint</Application>
  <PresentationFormat>Custom</PresentationFormat>
  <Paragraphs>57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Roboto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Soumaye Barnwal</cp:lastModifiedBy>
  <cp:revision>2</cp:revision>
  <dcterms:created xsi:type="dcterms:W3CDTF">2026-04-23T08:49:17Z</dcterms:created>
  <dcterms:modified xsi:type="dcterms:W3CDTF">2026-04-23T09:23:18Z</dcterms:modified>
</cp:coreProperties>
</file>